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d54dc11dae4051" /><Relationship Type="http://schemas.openxmlformats.org/officeDocument/2006/relationships/extended-properties" Target="/docProps/app.xml" Id="R71aee87f41e14bc5" /><Relationship Type="http://schemas.openxmlformats.org/officeDocument/2006/relationships/officeDocument" Target="/ppt/presentation.xml" Id="R1e1f47a690c6425c" /></Relationships>
</file>

<file path=ppt/presentation.xml><?xml version="1.0" encoding="utf-8"?>
<p:presentation xmlns:p="http://schemas.openxmlformats.org/presentationml/2006/main">
  <p:sldMasterIdLst>
    <p:sldMasterId xmlns:r="http://schemas.openxmlformats.org/officeDocument/2006/relationships" id="2147483648" r:id="Rb2129921222149ff"/>
  </p:sldMasterIdLst>
  <p:notesMasterIdLst>
    <p:notesMasterId xmlns:r="http://schemas.openxmlformats.org/officeDocument/2006/relationships" r:id="R2b1e2e6b589c44d8"/>
  </p:notesMasterIdLst>
  <p:sldIdLst>
    <p:sldId xmlns:r="http://schemas.openxmlformats.org/officeDocument/2006/relationships" id="256" r:id="Reaaa6b0f88ec4afd"/>
    <p:sldId xmlns:r="http://schemas.openxmlformats.org/officeDocument/2006/relationships" id="257" r:id="Rad5545997221446e"/>
    <p:sldId xmlns:r="http://schemas.openxmlformats.org/officeDocument/2006/relationships" id="258" r:id="R9baa1eb45033499e"/>
    <p:sldId xmlns:r="http://schemas.openxmlformats.org/officeDocument/2006/relationships" id="259" r:id="Raa219f35e3b84421"/>
    <p:sldId xmlns:r="http://schemas.openxmlformats.org/officeDocument/2006/relationships" id="260" r:id="R93cca7d945174f23"/>
    <p:sldId xmlns:r="http://schemas.openxmlformats.org/officeDocument/2006/relationships" id="261" r:id="R05067fbad0084961"/>
    <p:sldId xmlns:r="http://schemas.openxmlformats.org/officeDocument/2006/relationships" id="262" r:id="R57ea88720ad642e2"/>
    <p:sldId xmlns:r="http://schemas.openxmlformats.org/officeDocument/2006/relationships" id="263" r:id="R933e50440fdd4486"/>
    <p:sldId xmlns:r="http://schemas.openxmlformats.org/officeDocument/2006/relationships" id="264" r:id="R85239f1219214e68"/>
    <p:sldId xmlns:r="http://schemas.openxmlformats.org/officeDocument/2006/relationships" id="265" r:id="R691c7238a4c14e4d"/>
    <p:sldId xmlns:r="http://schemas.openxmlformats.org/officeDocument/2006/relationships" id="266" r:id="R7dc7c62a4b0c4d73"/>
    <p:sldId xmlns:r="http://schemas.openxmlformats.org/officeDocument/2006/relationships" id="267" r:id="Reb3da82ed6d549b1"/>
    <p:sldId xmlns:r="http://schemas.openxmlformats.org/officeDocument/2006/relationships" id="268" r:id="Rf2181b37e0d84327"/>
    <p:sldId xmlns:r="http://schemas.openxmlformats.org/officeDocument/2006/relationships" id="269" r:id="R0831c3d77a69497b"/>
    <p:sldId xmlns:r="http://schemas.openxmlformats.org/officeDocument/2006/relationships" id="270" r:id="Rfbfc3d0479c74bcd"/>
    <p:sldId xmlns:r="http://schemas.openxmlformats.org/officeDocument/2006/relationships" id="271" r:id="R66d73392fc364ad6"/>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5501f0997504c35" /><Relationship Type="http://schemas.openxmlformats.org/officeDocument/2006/relationships/slideMaster" Target="/ppt/slideMasters/slideMaster1.xml" Id="Rb2129921222149ff" /><Relationship Type="http://schemas.openxmlformats.org/officeDocument/2006/relationships/notesMaster" Target="/ppt/notesMasters/notesMaster1.xml" Id="R2b1e2e6b589c44d8" /><Relationship Type="http://schemas.openxmlformats.org/officeDocument/2006/relationships/presProps" Target="/ppt/presProps.xml" Id="R7f94e367f3474287" /><Relationship Type="http://schemas.openxmlformats.org/officeDocument/2006/relationships/viewProps" Target="/ppt/viewProps.xml" Id="Rb609eafbf9024b5d" /><Relationship Type="http://schemas.openxmlformats.org/officeDocument/2006/relationships/tableStyles" Target="/ppt/tableStyles.xml" Id="Rd5884db418ba40f9" /><Relationship Type="http://schemas.openxmlformats.org/officeDocument/2006/relationships/slide" Target="/ppt/slides/slide1.xml" Id="Reaaa6b0f88ec4afd" /><Relationship Type="http://schemas.openxmlformats.org/officeDocument/2006/relationships/slide" Target="/ppt/slides/slide2.xml" Id="Rad5545997221446e" /><Relationship Type="http://schemas.openxmlformats.org/officeDocument/2006/relationships/slide" Target="/ppt/slides/slide3.xml" Id="R9baa1eb45033499e" /><Relationship Type="http://schemas.openxmlformats.org/officeDocument/2006/relationships/slide" Target="/ppt/slides/slide4.xml" Id="Raa219f35e3b84421" /><Relationship Type="http://schemas.openxmlformats.org/officeDocument/2006/relationships/slide" Target="/ppt/slides/slide5.xml" Id="R93cca7d945174f23" /><Relationship Type="http://schemas.openxmlformats.org/officeDocument/2006/relationships/slide" Target="/ppt/slides/slide6.xml" Id="R05067fbad0084961" /><Relationship Type="http://schemas.openxmlformats.org/officeDocument/2006/relationships/slide" Target="/ppt/slides/slide7.xml" Id="R57ea88720ad642e2" /><Relationship Type="http://schemas.openxmlformats.org/officeDocument/2006/relationships/slide" Target="/ppt/slides/slide8.xml" Id="R933e50440fdd4486" /><Relationship Type="http://schemas.openxmlformats.org/officeDocument/2006/relationships/slide" Target="/ppt/slides/slide9.xml" Id="R85239f1219214e68" /><Relationship Type="http://schemas.openxmlformats.org/officeDocument/2006/relationships/slide" Target="/ppt/slides/slide10.xml" Id="R691c7238a4c14e4d" /><Relationship Type="http://schemas.openxmlformats.org/officeDocument/2006/relationships/slide" Target="/ppt/slides/slide11.xml" Id="R7dc7c62a4b0c4d73" /><Relationship Type="http://schemas.openxmlformats.org/officeDocument/2006/relationships/slide" Target="/ppt/slides/slide12.xml" Id="Reb3da82ed6d549b1" /><Relationship Type="http://schemas.openxmlformats.org/officeDocument/2006/relationships/slide" Target="/ppt/slides/slide13.xml" Id="Rf2181b37e0d84327" /><Relationship Type="http://schemas.openxmlformats.org/officeDocument/2006/relationships/slide" Target="/ppt/slides/slide14.xml" Id="R0831c3d77a69497b" /><Relationship Type="http://schemas.openxmlformats.org/officeDocument/2006/relationships/slide" Target="/ppt/slides/slide15.xml" Id="Rfbfc3d0479c74bcd" /><Relationship Type="http://schemas.openxmlformats.org/officeDocument/2006/relationships/slide" Target="/ppt/slides/slide16.xml" Id="R66d73392fc364a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26dacdc0c34d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508106e9bc4e7f" /><Relationship Type="http://schemas.openxmlformats.org/officeDocument/2006/relationships/notesMaster" Target="/ppt/notesMasters/notesMaster1.xml" Id="R12b5430f98684a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86dad2ba8b4811" /><Relationship Type="http://schemas.openxmlformats.org/officeDocument/2006/relationships/notesMaster" Target="/ppt/notesMasters/notesMaster1.xml" Id="Raa4fee27ca9b4f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4eb253b8b8461d" /><Relationship Type="http://schemas.openxmlformats.org/officeDocument/2006/relationships/notesMaster" Target="/ppt/notesMasters/notesMaster1.xml" Id="Rabe4476dfa4641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9013f61756472e" /><Relationship Type="http://schemas.openxmlformats.org/officeDocument/2006/relationships/notesMaster" Target="/ppt/notesMasters/notesMaster1.xml" Id="R5c06568145a044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5bf1664fa24807" /><Relationship Type="http://schemas.openxmlformats.org/officeDocument/2006/relationships/notesMaster" Target="/ppt/notesMasters/notesMaster1.xml" Id="R93a24240787a48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1bd08dbdac4f80" /><Relationship Type="http://schemas.openxmlformats.org/officeDocument/2006/relationships/notesMaster" Target="/ppt/notesMasters/notesMaster1.xml" Id="R127e2d9fe11e4c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25c694a3f94231" /><Relationship Type="http://schemas.openxmlformats.org/officeDocument/2006/relationships/notesMaster" Target="/ppt/notesMasters/notesMaster1.xml" Id="R8a93766ad33441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09342034204be6" /><Relationship Type="http://schemas.openxmlformats.org/officeDocument/2006/relationships/notesMaster" Target="/ppt/notesMasters/notesMaster1.xml" Id="R37eb261952a64a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20d59ee0e04620" /><Relationship Type="http://schemas.openxmlformats.org/officeDocument/2006/relationships/notesMaster" Target="/ppt/notesMasters/notesMaster1.xml" Id="Ra7851164e77c4f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ae44f49c5034bf4" /><Relationship Type="http://schemas.openxmlformats.org/officeDocument/2006/relationships/notesMaster" Target="/ppt/notesMasters/notesMaster1.xml" Id="Rba8163f136174ef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6dc2c23db0439b" /><Relationship Type="http://schemas.openxmlformats.org/officeDocument/2006/relationships/notesMaster" Target="/ppt/notesMasters/notesMaster1.xml" Id="Rf9196bf3c3e3426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9b243127904beb" /><Relationship Type="http://schemas.openxmlformats.org/officeDocument/2006/relationships/notesMaster" Target="/ppt/notesMasters/notesMaster1.xml" Id="Re80e57e186b944f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260f308677449fd" /><Relationship Type="http://schemas.openxmlformats.org/officeDocument/2006/relationships/notesMaster" Target="/ppt/notesMasters/notesMaster1.xml" Id="R5abf65efbb1f410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5e3b0b4ce8446c" /><Relationship Type="http://schemas.openxmlformats.org/officeDocument/2006/relationships/notesMaster" Target="/ppt/notesMasters/notesMaster1.xml" Id="R9014c4cccbc2429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0578a57f31e45e0" /><Relationship Type="http://schemas.openxmlformats.org/officeDocument/2006/relationships/notesMaster" Target="/ppt/notesMasters/notesMaster1.xml" Id="Rab2509bc9bac44e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dd4691637d94d38" /><Relationship Type="http://schemas.openxmlformats.org/officeDocument/2006/relationships/notesMaster" Target="/ppt/notesMasters/notesMaster1.xml" Id="Redb41edd28794f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are Ubuntu Bros, and this is THEIA. Jaydon prepared the scenarios and priority analysis. I made the mock-up and manual. We will go through the four examples, then show the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Stevie knows the general route, but he does not know when to turn. That is the main problem in this example. Source: supplied Theia-AS-IS_and_TO-BE_v2.0 classroom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Stevie confirms where he starts and which classroom he needs. Then he can begin. The ten steps and left turn come from the course example. They are not measured by this mock-up. Repeat plays the same instruction, and stop ends guidance. Source: course scenario template and Jaydon handoff.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 cart blocks a route the student already knows. Remembering the building does not tell them that something has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THEIA warns the student and pauses guidance. It explains another route and waits for the student to accept it. We assume blockage information is available. This mock-up does not detect a real cart.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there is no usable route, or the student declines it, guidance stays paused. The student can ask for help or stop.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visitor is lost and cannot give a reliable current location. Requesting help does not solve that location problem by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visitor checks the contact and confirms the request. Waiting for an answer and being connected are different results. Our mock-up shows those results as text. It does not call anyone.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confirmation, cancel means no request is sent. Once the request has started, cancel cannot undo contact that already happened. Guidance stays paused while the location is uncertain.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caretaker can help with settings, but the user still needs to check and approve the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checks the current settings, chooses louder prompts and fewer repeats, then previews the change. Save applies it. Cancel before saving keeps the old settings. The mock-up shows the prompts as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Fewer repeats means fewer repeated prompts. It does not remove turns or warnings. The caretaker helps, and the user approves.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chose classroom guidance as the top priority because Stevie uses it often and could get hurt if he misses the turn. The analysis covers Who, What kinds of, When and How. Source: CptS484-Lesson6-pt3.Scenarios.pdf and Jaydon handoff.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four problems need different responses: an unclear destination, a missed turn, an uncertain location and no usable route. We still need to match the examples to the final team WRS. Source: Lesson 6 and Jaydon handoff.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THEIA_Mockup.html beside the slides. Show the classroom example, then briefly show help and settings. The buttons move through example steps. Allow 90 seconds. Source: David mock-up and manual, 17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Phase I mock-up. We still need the team WRS to finish checking it. Real navigation, audio, vibration and calls are outside this demo. Source: Project Specification I v2.0 section III.3, THEIA Preliminary Definition v1.0, and David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5dbfd03ac14b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dd38517caa54c3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577a343db044b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3a6d04f7464e2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9a336dfa237444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67ea3f9d5f6416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b2e2ef0a2364ca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0d4f51f6fd6427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605c3b9c00f4b7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cd2c3b6ebca45c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8ff0615459f4c7f"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0B1E147-C8A0-4BC6-976C-8EAA43EDA55C}"/>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1BBF3227-9478-4C52-AA73-6319424D28B1}"/>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73A9542B-8975-4A12-AD77-67429A3C3BD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19FC151-C95F-4B97-8B73-E5BFB448A7CA}" type="datetimeFigureOut">
              <a:t>8/17/2026</a:t>
            </a:fld>
            <a:endParaRPr/>
          </a:p>
        </p:txBody>
      </p:sp>
      <p:sp>
        <p:nvSpPr>
          <p:cNvPr id="5" name="Footer Placeholder 4">
            <a:extLst xmlns:a="http://schemas.openxmlformats.org/drawingml/2006/main">
              <a:ext uri="{FF2B5EF4-FFF2-40B4-BE49-F238E27FC236}">
                <a16:creationId xmlns:a16="http://schemas.microsoft.com/office/drawing/2014/main" id="{028D904B-4391-43CD-A7AA-3824F2C1096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DBFDD9A-8941-4511-8C61-6673FC0690A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5C664BD-2E9A-452D-8DCB-A5C1F6FA5F2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56C906D-56D6-4B8F-87C5-B0EE1CE574C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D5CF03C-1CAC-4554-97C3-DF7AD8C3CEA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910C7BB-5EDD-41DD-831D-12E53C1D653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19FC151-C95F-4B97-8B73-E5BFB448A7CA}" type="datetimeFigureOut">
              <a:t>8/17/2026</a:t>
            </a:fld>
            <a:endParaRPr/>
          </a:p>
        </p:txBody>
      </p:sp>
      <p:sp>
        <p:nvSpPr>
          <p:cNvPr id="5" name="Footer Placeholder 4">
            <a:extLst xmlns:a="http://schemas.openxmlformats.org/drawingml/2006/main">
              <a:ext uri="{FF2B5EF4-FFF2-40B4-BE49-F238E27FC236}">
                <a16:creationId xmlns:a16="http://schemas.microsoft.com/office/drawing/2014/main" id="{39B0C739-34B4-49D4-8F87-43555C336A1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E890C07-C203-46D1-A9A9-2A27895971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5C664BD-2E9A-452D-8DCB-A5C1F6FA5F2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29F9BD-F333-480E-8CBF-2576F003CA9E}"/>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97D85C8-A58E-4D0C-96E1-49F452E9299E}"/>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Edit Master text styles</a:t>
            </a:r>
          </a:p>
        </p:txBody>
      </p:sp>
      <p:sp>
        <p:nvSpPr>
          <p:cNvPr id="4" name="Date Placeholder 3">
            <a:extLst xmlns:a="http://schemas.openxmlformats.org/drawingml/2006/main">
              <a:ext uri="{FF2B5EF4-FFF2-40B4-BE49-F238E27FC236}">
                <a16:creationId xmlns:a16="http://schemas.microsoft.com/office/drawing/2014/main" id="{ED1F543B-5C9D-4309-B49A-568CE18837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19FC151-C95F-4B97-8B73-E5BFB448A7CA}" type="datetimeFigureOut">
              <a:t>8/17/2026</a:t>
            </a:fld>
            <a:endParaRPr/>
          </a:p>
        </p:txBody>
      </p:sp>
      <p:sp>
        <p:nvSpPr>
          <p:cNvPr id="5" name="Footer Placeholder 4">
            <a:extLst xmlns:a="http://schemas.openxmlformats.org/drawingml/2006/main">
              <a:ext uri="{FF2B5EF4-FFF2-40B4-BE49-F238E27FC236}">
                <a16:creationId xmlns:a16="http://schemas.microsoft.com/office/drawing/2014/main" id="{E74CE2B0-E7A4-457D-BEAA-2BE86224E58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F2587F0-5F44-42E4-958A-D61C983530F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5C664BD-2E9A-452D-8DCB-A5C1F6FA5F2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8C1B2E-0F83-4B3F-8736-1782CF15F76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4DC77F3-7F52-4699-98BC-F5CDD835E4D5}"/>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FE70FF8E-CB09-41A9-BA43-70B505DB96A6}"/>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95C8000E-3AAB-4E34-85A2-22F28B8A45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19FC151-C95F-4B97-8B73-E5BFB448A7CA}" type="datetimeFigureOut">
              <a:t>8/17/2026</a:t>
            </a:fld>
            <a:endParaRPr/>
          </a:p>
        </p:txBody>
      </p:sp>
      <p:sp>
        <p:nvSpPr>
          <p:cNvPr id="6" name="Footer Placeholder 5">
            <a:extLst xmlns:a="http://schemas.openxmlformats.org/drawingml/2006/main">
              <a:ext uri="{FF2B5EF4-FFF2-40B4-BE49-F238E27FC236}">
                <a16:creationId xmlns:a16="http://schemas.microsoft.com/office/drawing/2014/main" id="{A239A5A7-F8BC-4CE7-9AFB-B7F24E9DD44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62D875C-2EED-412F-835A-8D9AD47858B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5C664BD-2E9A-452D-8DCB-A5C1F6FA5F2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99418B9-F5FD-430F-A486-D0A4EF4A93D0}"/>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09A873D-46AB-489F-93A5-703A9428A3D2}"/>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4" name="Content Placeholder 3">
            <a:extLst xmlns:a="http://schemas.openxmlformats.org/drawingml/2006/main">
              <a:ext uri="{FF2B5EF4-FFF2-40B4-BE49-F238E27FC236}">
                <a16:creationId xmlns:a16="http://schemas.microsoft.com/office/drawing/2014/main" id="{84F73EAB-7738-4218-8320-BAF5B88ED751}"/>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17DB9B05-5412-4BA5-9B92-556AC2BA2493}"/>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6" name="Content Placeholder 5">
            <a:extLst xmlns:a="http://schemas.openxmlformats.org/drawingml/2006/main">
              <a:ext uri="{FF2B5EF4-FFF2-40B4-BE49-F238E27FC236}">
                <a16:creationId xmlns:a16="http://schemas.microsoft.com/office/drawing/2014/main" id="{AF9F8B3F-FDF1-466F-A684-6668B08C212F}"/>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2D7F1379-FEB2-4232-A97B-4A9854F81C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19FC151-C95F-4B97-8B73-E5BFB448A7CA}" type="datetimeFigureOut">
              <a:t>8/17/2026</a:t>
            </a:fld>
            <a:endParaRPr/>
          </a:p>
        </p:txBody>
      </p:sp>
      <p:sp>
        <p:nvSpPr>
          <p:cNvPr id="8" name="Footer Placeholder 7">
            <a:extLst xmlns:a="http://schemas.openxmlformats.org/drawingml/2006/main">
              <a:ext uri="{FF2B5EF4-FFF2-40B4-BE49-F238E27FC236}">
                <a16:creationId xmlns:a16="http://schemas.microsoft.com/office/drawing/2014/main" id="{6883ADD5-6DE6-4F90-9F48-23CF2FDEDFB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55D40F2-AC8A-4686-915A-3A459882521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5C664BD-2E9A-452D-8DCB-A5C1F6FA5F2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0C7AAF-1469-414A-8493-0CA826FFC25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68D0EDA4-27B8-49D9-9CDC-EC94D6DD62D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19FC151-C95F-4B97-8B73-E5BFB448A7CA}" type="datetimeFigureOut">
              <a:t>8/17/2026</a:t>
            </a:fld>
            <a:endParaRPr/>
          </a:p>
        </p:txBody>
      </p:sp>
      <p:sp>
        <p:nvSpPr>
          <p:cNvPr id="4" name="Footer Placeholder 3">
            <a:extLst xmlns:a="http://schemas.openxmlformats.org/drawingml/2006/main">
              <a:ext uri="{FF2B5EF4-FFF2-40B4-BE49-F238E27FC236}">
                <a16:creationId xmlns:a16="http://schemas.microsoft.com/office/drawing/2014/main" id="{043BB72E-178F-465C-BAC7-372CB6F8EB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FD2BE6B-1F95-4225-BB77-01B2BC22044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5C664BD-2E9A-452D-8DCB-A5C1F6FA5F2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5DE200F2-9C97-4485-97B8-43AF0DD70CD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19FC151-C95F-4B97-8B73-E5BFB448A7CA}" type="datetimeFigureOut">
              <a:t>8/17/2026</a:t>
            </a:fld>
            <a:endParaRPr/>
          </a:p>
        </p:txBody>
      </p:sp>
      <p:sp>
        <p:nvSpPr>
          <p:cNvPr id="3" name="Footer Placeholder 2">
            <a:extLst xmlns:a="http://schemas.openxmlformats.org/drawingml/2006/main">
              <a:ext uri="{FF2B5EF4-FFF2-40B4-BE49-F238E27FC236}">
                <a16:creationId xmlns:a16="http://schemas.microsoft.com/office/drawing/2014/main" id="{FC314FCC-17D0-4070-87DE-01A740525D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70375113-BE05-4973-B2F8-5D8DEC179D1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5C664BD-2E9A-452D-8DCB-A5C1F6FA5F2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BFA1825-4DE0-4612-BBDD-192DEAA9175F}"/>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B66D902-ED54-4D39-8D2E-25F1B530467E}"/>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AFFE6202-835A-4D10-8696-5F9C93985EC7}"/>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BE2197CC-931A-42AB-86EB-33B7388062E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19FC151-C95F-4B97-8B73-E5BFB448A7CA}" type="datetimeFigureOut">
              <a:t>8/17/2026</a:t>
            </a:fld>
            <a:endParaRPr/>
          </a:p>
        </p:txBody>
      </p:sp>
      <p:sp>
        <p:nvSpPr>
          <p:cNvPr id="6" name="Footer Placeholder 5">
            <a:extLst xmlns:a="http://schemas.openxmlformats.org/drawingml/2006/main">
              <a:ext uri="{FF2B5EF4-FFF2-40B4-BE49-F238E27FC236}">
                <a16:creationId xmlns:a16="http://schemas.microsoft.com/office/drawing/2014/main" id="{C9E62F2B-A80B-466F-ADA7-487AA65D4C9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0F3C4D0-1C4A-48F9-92DD-F530E718360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5C664BD-2E9A-452D-8DCB-A5C1F6FA5F2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9D3BAD3-7D59-44A6-A4A3-D1BA8F249D7E}"/>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11F77753-3940-4A5F-B934-46E478EE2930}"/>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1EFBCA91-3E11-4F2F-977B-92EE8E593B04}"/>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C245E498-0231-44B8-8715-5D426B7EA02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19FC151-C95F-4B97-8B73-E5BFB448A7CA}" type="datetimeFigureOut">
              <a:t>8/17/2026</a:t>
            </a:fld>
            <a:endParaRPr/>
          </a:p>
        </p:txBody>
      </p:sp>
      <p:sp>
        <p:nvSpPr>
          <p:cNvPr id="6" name="Footer Placeholder 5">
            <a:extLst xmlns:a="http://schemas.openxmlformats.org/drawingml/2006/main">
              <a:ext uri="{FF2B5EF4-FFF2-40B4-BE49-F238E27FC236}">
                <a16:creationId xmlns:a16="http://schemas.microsoft.com/office/drawing/2014/main" id="{EE0B7981-F7C7-4422-96D1-0A4D53E5E7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E33C5BF-2633-4B2F-8306-3C45974054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5C664BD-2E9A-452D-8DCB-A5C1F6FA5F2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C5CAD2B-6A45-493C-ADEC-1D523816085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3274B83-74CC-4244-8433-B802CC661C62}"/>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0FDAA2F-BC68-4BC4-9935-F2FBD72297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19FC151-C95F-4B97-8B73-E5BFB448A7CA}" type="datetimeFigureOut">
              <a:t>8/17/2026</a:t>
            </a:fld>
            <a:endParaRPr/>
          </a:p>
        </p:txBody>
      </p:sp>
      <p:sp>
        <p:nvSpPr>
          <p:cNvPr id="5" name="Footer Placeholder 4">
            <a:extLst xmlns:a="http://schemas.openxmlformats.org/drawingml/2006/main">
              <a:ext uri="{FF2B5EF4-FFF2-40B4-BE49-F238E27FC236}">
                <a16:creationId xmlns:a16="http://schemas.microsoft.com/office/drawing/2014/main" id="{B8D9C779-E871-4A96-8FCC-DDC9AC83F7A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2632DCE-5E52-42CB-B97F-27362C54812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5C664BD-2E9A-452D-8DCB-A5C1F6FA5F2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B51553D9-22F0-49A8-98CD-81B98818FBBE}"/>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9CBA776-CFB8-4F0F-8F19-D1832E2793C8}"/>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BD45A7A-289F-4728-8B9C-915564DC8F7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19FC151-C95F-4B97-8B73-E5BFB448A7CA}" type="datetimeFigureOut">
              <a:t>8/17/2026</a:t>
            </a:fld>
            <a:endParaRPr/>
          </a:p>
        </p:txBody>
      </p:sp>
      <p:sp>
        <p:nvSpPr>
          <p:cNvPr id="5" name="Footer Placeholder 4">
            <a:extLst xmlns:a="http://schemas.openxmlformats.org/drawingml/2006/main">
              <a:ext uri="{FF2B5EF4-FFF2-40B4-BE49-F238E27FC236}">
                <a16:creationId xmlns:a16="http://schemas.microsoft.com/office/drawing/2014/main" id="{CA86D427-E821-44AE-9199-68D2B686C4F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D724E30-9118-4896-8D27-4648AE7A0FC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5C664BD-2E9A-452D-8DCB-A5C1F6FA5F2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7d1836b547408f" /><Relationship Type="http://schemas.openxmlformats.org/officeDocument/2006/relationships/slideLayout" Target="/ppt/slideLayouts/slideLayout1.xml" Id="Rb271b8fef969445a" /><Relationship Type="http://schemas.openxmlformats.org/officeDocument/2006/relationships/slideLayout" Target="/ppt/slideLayouts/slideLayout2.xml" Id="R8588f1a9483a47f3" /><Relationship Type="http://schemas.openxmlformats.org/officeDocument/2006/relationships/slideLayout" Target="/ppt/slideLayouts/slideLayout3.xml" Id="R48a9999101014b5b" /><Relationship Type="http://schemas.openxmlformats.org/officeDocument/2006/relationships/slideLayout" Target="/ppt/slideLayouts/slideLayout4.xml" Id="Rb49750f9832941ec" /><Relationship Type="http://schemas.openxmlformats.org/officeDocument/2006/relationships/slideLayout" Target="/ppt/slideLayouts/slideLayout5.xml" Id="R784f6bc5c168474a" /><Relationship Type="http://schemas.openxmlformats.org/officeDocument/2006/relationships/slideLayout" Target="/ppt/slideLayouts/slideLayout6.xml" Id="R2c7f382350bb425a" /><Relationship Type="http://schemas.openxmlformats.org/officeDocument/2006/relationships/slideLayout" Target="/ppt/slideLayouts/slideLayout7.xml" Id="R0dc1664a470243dc" /><Relationship Type="http://schemas.openxmlformats.org/officeDocument/2006/relationships/slideLayout" Target="/ppt/slideLayouts/slideLayout8.xml" Id="R23550fcfafae4eef" /><Relationship Type="http://schemas.openxmlformats.org/officeDocument/2006/relationships/slideLayout" Target="/ppt/slideLayouts/slideLayout9.xml" Id="Rc71f67d8b9e64a51" /><Relationship Type="http://schemas.openxmlformats.org/officeDocument/2006/relationships/slideLayout" Target="/ppt/slideLayouts/slideLayout10.xml" Id="R5af28e91c03e4cbc" /><Relationship Type="http://schemas.openxmlformats.org/officeDocument/2006/relationships/slideLayout" Target="/ppt/slideLayouts/slideLayout11.xml" Id="R8710e6d2b7534db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22BD2AB3-0AA5-46A1-A17E-CC3249007A6F}"/>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8D9E5A1A-920F-49DA-803B-E908B462E0C6}"/>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609B3C4B-E9B9-464E-B854-C9736BD7B7E6}"/>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B19FC151-C95F-4B97-8B73-E5BFB448A7CA}" type="datetimeFigureOut">
              <a:t>8/17/2026</a:t>
            </a:fld>
            <a:endParaRPr/>
          </a:p>
        </p:txBody>
      </p:sp>
      <p:sp>
        <p:nvSpPr>
          <p:cNvPr id="5" name="Footer Placeholder 4">
            <a:extLst xmlns:a="http://schemas.openxmlformats.org/drawingml/2006/main">
              <a:ext uri="{FF2B5EF4-FFF2-40B4-BE49-F238E27FC236}">
                <a16:creationId xmlns:a16="http://schemas.microsoft.com/office/drawing/2014/main" id="{D90264A9-6D41-4537-A210-0F87B1525028}"/>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A9A312F-6625-4CD9-82BE-98585C3951F6}"/>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45C664BD-2E9A-452D-8DCB-A5C1F6FA5F2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71b8fef969445a"/>
    <p:sldLayoutId xmlns:r="http://schemas.openxmlformats.org/officeDocument/2006/relationships" id="2147483650" r:id="R8588f1a9483a47f3"/>
    <p:sldLayoutId xmlns:r="http://schemas.openxmlformats.org/officeDocument/2006/relationships" id="2147483651" r:id="R48a9999101014b5b"/>
    <p:sldLayoutId xmlns:r="http://schemas.openxmlformats.org/officeDocument/2006/relationships" id="2147483652" r:id="Rb49750f9832941ec"/>
    <p:sldLayoutId xmlns:r="http://schemas.openxmlformats.org/officeDocument/2006/relationships" id="2147483653" r:id="R784f6bc5c168474a"/>
    <p:sldLayoutId xmlns:r="http://schemas.openxmlformats.org/officeDocument/2006/relationships" id="2147483654" r:id="R2c7f382350bb425a"/>
    <p:sldLayoutId xmlns:r="http://schemas.openxmlformats.org/officeDocument/2006/relationships" id="2147483655" r:id="R0dc1664a470243dc"/>
    <p:sldLayoutId xmlns:r="http://schemas.openxmlformats.org/officeDocument/2006/relationships" id="2147483656" r:id="R23550fcfafae4eef"/>
    <p:sldLayoutId xmlns:r="http://schemas.openxmlformats.org/officeDocument/2006/relationships" id="2147483657" r:id="Rc71f67d8b9e64a51"/>
    <p:sldLayoutId xmlns:r="http://schemas.openxmlformats.org/officeDocument/2006/relationships" id="2147483658" r:id="R5af28e91c03e4cbc"/>
    <p:sldLayoutId xmlns:r="http://schemas.openxmlformats.org/officeDocument/2006/relationships" id="2147483659" r:id="R8710e6d2b7534db1"/>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dce7378979b4a10" /><Relationship Type="http://schemas.openxmlformats.org/officeDocument/2006/relationships/notesSlide" Target="/ppt/notesSlides/notesSlide1.xml" Id="Rb693e09d59194b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f1643b5d1a394626" /><Relationship Type="http://schemas.openxmlformats.org/officeDocument/2006/relationships/notesSlide" Target="/ppt/notesSlides/notesSlide2.xml" Id="R3d180879f82a48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1ab1df0948104587" /><Relationship Type="http://schemas.openxmlformats.org/officeDocument/2006/relationships/notesSlide" Target="/ppt/notesSlides/notesSlide3.xml" Id="R745cb9541fbb4b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8f040f0abd9f4169" /><Relationship Type="http://schemas.openxmlformats.org/officeDocument/2006/relationships/notesSlide" Target="/ppt/notesSlides/notesSlide4.xml" Id="R235d07acb94440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5e1dbbd4f10e4495" /><Relationship Type="http://schemas.openxmlformats.org/officeDocument/2006/relationships/notesSlide" Target="/ppt/notesSlides/notesSlide5.xml" Id="Rc1eec1bcacd04e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461b5cf041304b84" /><Relationship Type="http://schemas.openxmlformats.org/officeDocument/2006/relationships/notesSlide" Target="/ppt/notesSlides/notesSlide6.xml" Id="R06049ce273e547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405564f866b24380" /><Relationship Type="http://schemas.openxmlformats.org/officeDocument/2006/relationships/notesSlide" Target="/ppt/notesSlides/notesSlide7.xml" Id="Rf0507abe0e3842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a1dfdb109ff44ddc" /><Relationship Type="http://schemas.openxmlformats.org/officeDocument/2006/relationships/notesSlide" Target="/ppt/notesSlides/notesSlide8.xml" Id="R4df5dd8d7d604f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00bca308acfb4227" /><Relationship Type="http://schemas.openxmlformats.org/officeDocument/2006/relationships/notesSlide" Target="/ppt/notesSlides/notesSlide9.xml" Id="R36c852eedf584a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49a89eb7499a4bae" /><Relationship Type="http://schemas.openxmlformats.org/officeDocument/2006/relationships/notesSlide" Target="/ppt/notesSlides/notesSlide10.xml" Id="Rc7e4f0dfc0174f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3906d2ff7ccf4563" /><Relationship Type="http://schemas.openxmlformats.org/officeDocument/2006/relationships/notesSlide" Target="/ppt/notesSlides/notesSlide11.xml" Id="R4e13dcd0956f4c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414d1ddfd5f9445d" /><Relationship Type="http://schemas.openxmlformats.org/officeDocument/2006/relationships/notesSlide" Target="/ppt/notesSlides/notesSlide12.xml" Id="R0f4ec117acbd40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69db60f04d444900" /><Relationship Type="http://schemas.openxmlformats.org/officeDocument/2006/relationships/notesSlide" Target="/ppt/notesSlides/notesSlide13.xml" Id="Rcaf911e074e2419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4ae1a2da3d13448c" /><Relationship Type="http://schemas.openxmlformats.org/officeDocument/2006/relationships/notesSlide" Target="/ppt/notesSlides/notesSlide14.xml" Id="Rfe52295eb24741e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5fa4080288ad4182" /><Relationship Type="http://schemas.openxmlformats.org/officeDocument/2006/relationships/notesSlide" Target="/ppt/notesSlides/notesSlide15.xml" Id="Rf82cc6aacc3b48e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a51224158f2b4ab2" /><Relationship Type="http://schemas.openxmlformats.org/officeDocument/2006/relationships/notesSlide" Target="/ppt/notesSlides/notesSlide16.xml" Id="R1f5b33ab1f47486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0468C6E-964B-AF50-E729-29A15AB79843}"/>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defPPr algn="ctr">
              <a:defRPr sz="4800">
                <a:solidFill>
                  <a:srgbClr val="000000"/>
                </a:solidFill>
                <a:latin typeface="Calibri Light"/>
                <a:ea typeface="Calibri Light"/>
                <a:cs typeface="Calibri Light"/>
              </a:defRPr>
            </a:defPPr>
            <a:lvl1pPr algn="ctr">
              <a:defRPr sz="4800">
                <a:solidFill>
                  <a:srgbClr val="000000"/>
                </a:solidFill>
                <a:latin typeface="Calibri Light"/>
                <a:ea typeface="Calibri Light"/>
                <a:cs typeface="Calibri Light"/>
              </a:defRPr>
            </a:lvl1pPr>
            <a:lvl2pPr algn="ctr">
              <a:defRPr sz="4800">
                <a:solidFill>
                  <a:srgbClr val="000000"/>
                </a:solidFill>
                <a:latin typeface="Calibri Light"/>
                <a:ea typeface="Calibri Light"/>
                <a:cs typeface="Calibri Light"/>
              </a:defRPr>
            </a:lvl2pPr>
            <a:lvl3pPr algn="ctr">
              <a:defRPr sz="4800">
                <a:solidFill>
                  <a:srgbClr val="000000"/>
                </a:solidFill>
                <a:latin typeface="Calibri Light"/>
                <a:ea typeface="Calibri Light"/>
                <a:cs typeface="Calibri Light"/>
              </a:defRPr>
            </a:lvl3pPr>
            <a:lvl4pPr algn="ctr">
              <a:defRPr sz="4800">
                <a:solidFill>
                  <a:srgbClr val="000000"/>
                </a:solidFill>
                <a:latin typeface="Calibri Light"/>
                <a:ea typeface="Calibri Light"/>
                <a:cs typeface="Calibri Light"/>
              </a:defRPr>
            </a:lvl4pPr>
            <a:lvl5pPr algn="ctr">
              <a:defRPr sz="4800">
                <a:solidFill>
                  <a:srgbClr val="000000"/>
                </a:solidFill>
                <a:latin typeface="Calibri Light"/>
                <a:ea typeface="Calibri Light"/>
                <a:cs typeface="Calibri Light"/>
              </a:defRPr>
            </a:lvl5pPr>
            <a:lvl6pPr algn="ctr">
              <a:defRPr sz="4800">
                <a:solidFill>
                  <a:srgbClr val="000000"/>
                </a:solidFill>
                <a:latin typeface="Calibri Light"/>
                <a:ea typeface="Calibri Light"/>
                <a:cs typeface="Calibri Light"/>
              </a:defRPr>
            </a:lvl6pPr>
            <a:lvl7pPr algn="ctr">
              <a:defRPr sz="4800">
                <a:solidFill>
                  <a:srgbClr val="000000"/>
                </a:solidFill>
                <a:latin typeface="Calibri Light"/>
                <a:ea typeface="Calibri Light"/>
                <a:cs typeface="Calibri Light"/>
              </a:defRPr>
            </a:lvl7pPr>
            <a:lvl8pPr algn="ctr">
              <a:defRPr sz="4800">
                <a:solidFill>
                  <a:srgbClr val="000000"/>
                </a:solidFill>
                <a:latin typeface="Calibri Light"/>
                <a:ea typeface="Calibri Light"/>
                <a:cs typeface="Calibri Light"/>
              </a:defRPr>
            </a:lvl8pPr>
            <a:lvl9pPr algn="ctr">
              <a:defRPr sz="4800">
                <a:solidFill>
                  <a:srgbClr val="000000"/>
                </a:solidFill>
                <a:latin typeface="Calibri Light"/>
                <a:ea typeface="Calibri Light"/>
                <a:cs typeface="Calibri Light"/>
              </a:defRPr>
            </a:lvl9pPr>
          </a:lstStyle>
          <a:p xmlns:a="http://schemas.openxmlformats.org/drawingml/2006/main">
            <a:pPr algn="ctr">
              <a:buNone/>
              <a:defRPr sz="4800">
                <a:solidFill>
                  <a:srgbClr val="000000"/>
                </a:solidFill>
                <a:latin typeface="Calibri Light"/>
                <a:ea typeface="Calibri Light"/>
                <a:cs typeface="Calibri Light"/>
              </a:defRPr>
            </a:pPr>
            <a:r>
              <a:rPr sz="4800">
                <a:solidFill>
                  <a:srgbClr val="000000"/>
                </a:solidFill>
                <a:latin typeface="Calibri Light"/>
                <a:ea typeface="Calibri Light"/>
                <a:cs typeface="Calibri Light"/>
              </a:rPr>
              <a:t>THEIA</a:t>
            </a:r>
          </a:p>
          <a:p xmlns:a="http://schemas.openxmlformats.org/drawingml/2006/main">
            <a:pPr algn="ctr">
              <a:buNone/>
              <a:defRPr sz="4800">
                <a:solidFill>
                  <a:srgbClr val="000000"/>
                </a:solidFill>
                <a:latin typeface="Calibri Light"/>
                <a:ea typeface="Calibri Light"/>
                <a:cs typeface="Calibri Light"/>
              </a:defRPr>
            </a:pPr>
            <a:r>
              <a:rPr sz="4800">
                <a:solidFill>
                  <a:srgbClr val="000000"/>
                </a:solidFill>
                <a:latin typeface="Calibri Light"/>
                <a:ea typeface="Calibri Light"/>
                <a:cs typeface="Calibri Light"/>
              </a:rPr>
              <a:t>Phase I scenarios</a:t>
            </a:r>
          </a:p>
        </p:txBody>
      </p:sp>
      <p:sp>
        <p:nvSpPr>
          <p:cNvPr id="3" name="Subtitle 2">
            <a:extLst xmlns:a="http://schemas.openxmlformats.org/drawingml/2006/main">
              <a:ext uri="{FF2B5EF4-FFF2-40B4-BE49-F238E27FC236}">
                <a16:creationId xmlns:a16="http://schemas.microsoft.com/office/drawing/2014/main" id="{91440C3C-9794-6B3D-429E-D85A27E7DE08}"/>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defPPr algn="ctr">
              <a:defRPr sz="2400">
                <a:solidFill>
                  <a:srgbClr val="000000"/>
                </a:solidFill>
                <a:latin typeface="Calibri"/>
                <a:ea typeface="Calibri"/>
                <a:cs typeface="Calibri"/>
              </a:defRPr>
            </a:defPPr>
            <a:lvl1pPr algn="ctr">
              <a:defRPr sz="2400">
                <a:solidFill>
                  <a:srgbClr val="000000"/>
                </a:solidFill>
                <a:latin typeface="Calibri"/>
                <a:ea typeface="Calibri"/>
                <a:cs typeface="Calibri"/>
              </a:defRPr>
            </a:lvl1pPr>
            <a:lvl2pPr algn="ctr">
              <a:defRPr sz="2400">
                <a:solidFill>
                  <a:srgbClr val="000000"/>
                </a:solidFill>
                <a:latin typeface="Calibri"/>
                <a:ea typeface="Calibri"/>
                <a:cs typeface="Calibri"/>
              </a:defRPr>
            </a:lvl2pPr>
            <a:lvl3pPr algn="ctr">
              <a:defRPr sz="2400">
                <a:solidFill>
                  <a:srgbClr val="000000"/>
                </a:solidFill>
                <a:latin typeface="Calibri"/>
                <a:ea typeface="Calibri"/>
                <a:cs typeface="Calibri"/>
              </a:defRPr>
            </a:lvl3pPr>
            <a:lvl4pPr algn="ctr">
              <a:defRPr sz="2400">
                <a:solidFill>
                  <a:srgbClr val="000000"/>
                </a:solidFill>
                <a:latin typeface="Calibri"/>
                <a:ea typeface="Calibri"/>
                <a:cs typeface="Calibri"/>
              </a:defRPr>
            </a:lvl4pPr>
            <a:lvl5pPr algn="ctr">
              <a:defRPr sz="2400">
                <a:solidFill>
                  <a:srgbClr val="000000"/>
                </a:solidFill>
                <a:latin typeface="Calibri"/>
                <a:ea typeface="Calibri"/>
                <a:cs typeface="Calibri"/>
              </a:defRPr>
            </a:lvl5pPr>
            <a:lvl6pPr algn="ctr">
              <a:defRPr sz="2400">
                <a:solidFill>
                  <a:srgbClr val="000000"/>
                </a:solidFill>
                <a:latin typeface="Calibri"/>
                <a:ea typeface="Calibri"/>
                <a:cs typeface="Calibri"/>
              </a:defRPr>
            </a:lvl6pPr>
            <a:lvl7pPr algn="ctr">
              <a:defRPr sz="2400">
                <a:solidFill>
                  <a:srgbClr val="000000"/>
                </a:solidFill>
                <a:latin typeface="Calibri"/>
                <a:ea typeface="Calibri"/>
                <a:cs typeface="Calibri"/>
              </a:defRPr>
            </a:lvl7pPr>
            <a:lvl8pPr algn="ctr">
              <a:defRPr sz="2400">
                <a:solidFill>
                  <a:srgbClr val="000000"/>
                </a:solidFill>
                <a:latin typeface="Calibri"/>
                <a:ea typeface="Calibri"/>
                <a:cs typeface="Calibri"/>
              </a:defRPr>
            </a:lvl8pPr>
            <a:lvl9pPr algn="ctr">
              <a:defRPr sz="2400">
                <a:solidFill>
                  <a:srgbClr val="000000"/>
                </a:solidFill>
                <a:latin typeface="Calibri"/>
                <a:ea typeface="Calibri"/>
                <a:cs typeface="Calibri"/>
              </a:defRPr>
            </a:lvl9pPr>
          </a:lstStyle>
          <a:p xmlns:a="http://schemas.openxmlformats.org/drawingml/2006/main">
            <a:pPr algn="ctr">
              <a:buNone/>
              <a:defRPr sz="2400">
                <a:solidFill>
                  <a:srgbClr val="000000"/>
                </a:solidFill>
                <a:latin typeface="Calibri"/>
                <a:ea typeface="Calibri"/>
                <a:cs typeface="Calibri"/>
              </a:defRPr>
            </a:pPr>
            <a:r>
              <a:rPr sz="2400">
                <a:solidFill>
                  <a:srgbClr val="000000"/>
                </a:solidFill>
                <a:latin typeface="Calibri"/>
                <a:ea typeface="Calibri"/>
                <a:cs typeface="Calibri"/>
              </a:rPr>
              <a:t>Ubuntu Bros</a:t>
            </a:r>
            <a:endParaRPr/>
          </a:p>
          <a:p xmlns:a="http://schemas.openxmlformats.org/drawingml/2006/main">
            <a:pPr algn="ctr">
              <a:buNone/>
              <a:defRPr sz="2400">
                <a:solidFill>
                  <a:srgbClr val="000000"/>
                </a:solidFill>
                <a:latin typeface="Calibri"/>
                <a:ea typeface="Calibri"/>
                <a:cs typeface="Calibri"/>
              </a:defRPr>
            </a:pPr>
            <a:r>
              <a:rPr sz="2400">
                <a:solidFill>
                  <a:srgbClr val="000000"/>
                </a:solidFill>
                <a:latin typeface="Calibri"/>
                <a:ea typeface="Calibri"/>
                <a:cs typeface="Calibri"/>
              </a:rPr>
              <a:t>CPT_S 484</a:t>
            </a:r>
            <a:endParaRPr/>
          </a:p>
          <a:p xmlns:a="http://schemas.openxmlformats.org/drawingml/2006/main">
            <a:pPr algn="ctr">
              <a:buNone/>
              <a:defRPr sz="2400">
                <a:solidFill>
                  <a:srgbClr val="000000"/>
                </a:solidFill>
                <a:latin typeface="Calibri"/>
                <a:ea typeface="Calibri"/>
                <a:cs typeface="Calibri"/>
              </a:defRPr>
            </a:pPr>
            <a:r>
              <a:rPr sz="2400">
                <a:solidFill>
                  <a:srgbClr val="000000"/>
                </a:solidFill>
                <a:latin typeface="Calibri"/>
                <a:ea typeface="Calibri"/>
                <a:cs typeface="Calibri"/>
              </a:rPr>
              <a:t>Scenario slides and analysis: Jaydon Devictoria</a:t>
            </a:r>
            <a:endParaRPr/>
          </a:p>
          <a:p xmlns:a="http://schemas.openxmlformats.org/drawingml/2006/main">
            <a:pPr algn="ctr">
              <a:buNone/>
              <a:defRPr sz="2400">
                <a:solidFill>
                  <a:srgbClr val="000000"/>
                </a:solidFill>
                <a:latin typeface="Calibri"/>
                <a:ea typeface="Calibri"/>
                <a:cs typeface="Calibri"/>
              </a:defRPr>
            </a:pPr>
            <a:r>
              <a:rPr sz="2400">
                <a:solidFill>
                  <a:srgbClr val="000000"/>
                </a:solidFill>
                <a:latin typeface="Calibri"/>
                <a:ea typeface="Calibri"/>
                <a:cs typeface="Calibri"/>
              </a:rPr>
              <a:t>Mock-up and manual: David Acosta Leon</a:t>
            </a:r>
          </a:p>
        </p:txBody>
      </p:sp>
    </p:spTree>
    <p:extLst>
      <p:ext uri="{BB962C8B-B14F-4D97-AF65-F5344CB8AC3E}">
        <p14:creationId xmlns:p14="http://schemas.microsoft.com/office/powerpoint/2010/main" val="365086070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9565452-6205-4DBF-A99E-F1562E6C39B8}"/>
              </a:ext>
            </a:extLst>
          </p:cNvPr>
          <p:cNvSpPr>
            <a:spLocks xmlns:a="http://schemas.openxmlformats.org/drawingml/2006/main" noGrp="1"/>
          </p:cNvSpPr>
          <p:nvPr/>
        </p:nvSpPr>
        <p:spPr>
          <a:xfrm xmlns:a="http://schemas.openxmlformats.org/drawingml/2006/main">
            <a:off x="528034" y="321972"/>
            <a:ext cx="10818253"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xmlns:a="http://schemas.openxmlformats.org/drawingml/2006/main">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Classroom trip: AS-IS</a:t>
            </a:r>
          </a:p>
        </p:txBody>
      </p:sp>
      <p:sp>
        <p:nvSpPr>
          <p:cNvPr id="6" name="TextBox 5">
            <a:extLst xmlns:a="http://schemas.openxmlformats.org/drawingml/2006/main">
              <a:ext uri="{FF2B5EF4-FFF2-40B4-BE49-F238E27FC236}">
                <a16:creationId xmlns:a16="http://schemas.microsoft.com/office/drawing/2014/main" id="{0A02B431-4F72-4EB7-82AC-3322F54A5403}"/>
              </a:ext>
            </a:extLst>
          </p:cNvPr>
          <p:cNvSpPr>
            <a:spLocks xmlns:a="http://schemas.openxmlformats.org/drawingml/2006/main" noGrp="1"/>
          </p:cNvSpPr>
          <p:nvPr/>
        </p:nvSpPr>
        <p:spPr>
          <a:xfrm xmlns:a="http://schemas.openxmlformats.org/drawingml/2006/main">
            <a:off x="557784" y="877824"/>
            <a:ext cx="10572750" cy="2641600"/>
          </a:xfrm>
          <a:prstGeom xmlns:a="http://schemas.openxmlformats.org/drawingml/2006/main" prst="rect">
            <a:avLst/>
          </a:prstGeom>
          <a:noFill xmlns:a="http://schemas.openxmlformats.org/drawingml/2006/main"/>
        </p:spPr>
        <p:txBody>
          <a:bodyPr xmlns:a="http://schemas.openxmlformats.org/drawingml/2006/main" wrap="square" lIns="57150" tIns="28575" rIns="57150" bIns="28575" anchor="t">
            <a:noAutofit/>
          </a:bodyPr>
          <a:lstStyle xmlns:a="http://schemas.openxmlformats.org/drawingml/2006/main">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 Stevie, a visually impaired student</a:t>
            </a:r>
          </a:p>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Goal: Reach his next classroom</a:t>
            </a:r>
          </a:p>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Feature: Spoken route guidance</a:t>
            </a:r>
          </a:p>
          <a:p xmlns:a="http://schemas.openxmlformats.org/drawingml/2006/main">
            <a:pPr>
              <a:spcAft>
                <a:spcPts val="0"/>
              </a:spcAft>
              <a:buNone/>
            </a:pPr>
            <a:r>
              <a:t/>
            </a:r>
          </a:p>
          <a:p xmlns:a="http://schemas.openxmlformats.org/drawingml/2006/main">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Stevie is trying to go to his next classroom. He knows he needs to walk ahead a few steps, and then turn left around the corner.</a:t>
            </a:r>
          </a:p>
          <a:p xmlns:a="http://schemas.openxmlformats.org/drawingml/2006/main">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However, he is not sure when to turn.</a:t>
            </a:r>
          </a:p>
          <a:p xmlns:a="http://schemas.openxmlformats.org/drawingml/2006/main">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He took a guess, but turned too early, hit the wall and hurt his head.</a:t>
            </a:r>
          </a:p>
        </p:txBody>
      </p:sp>
    </p:spTree>
    <p:extLst>
      <p:ext uri="{BB962C8B-B14F-4D97-AF65-F5344CB8AC3E}">
        <p14:creationId xmlns:p14="http://schemas.microsoft.com/office/powerpoint/2010/main" val="302349232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3" name="TextBox 22">
            <a:extLst xmlns:a="http://schemas.openxmlformats.org/drawingml/2006/main">
              <a:ext uri="{FF2B5EF4-FFF2-40B4-BE49-F238E27FC236}">
                <a16:creationId xmlns:a16="http://schemas.microsoft.com/office/drawing/2014/main" id="{EFA11977-6C09-47A8-B4F1-FA7CF179A581}"/>
              </a:ext>
            </a:extLst>
          </p:cNvPr>
          <p:cNvSpPr>
            <a:spLocks xmlns:a="http://schemas.openxmlformats.org/drawingml/2006/main" noGrp="1"/>
          </p:cNvSpPr>
          <p:nvPr/>
        </p:nvSpPr>
        <p:spPr>
          <a:xfrm xmlns:a="http://schemas.openxmlformats.org/drawingml/2006/main">
            <a:off x="557784" y="877824"/>
            <a:ext cx="10572750" cy="3870960"/>
          </a:xfrm>
          <a:prstGeom xmlns:a="http://schemas.openxmlformats.org/drawingml/2006/main" prst="rect">
            <a:avLst/>
          </a:prstGeom>
          <a:noFill xmlns:a="http://schemas.openxmlformats.org/drawingml/2006/main"/>
        </p:spPr>
        <p:txBody>
          <a:bodyPr xmlns:a="http://schemas.openxmlformats.org/drawingml/2006/main" wrap="square" lIns="57150" tIns="28575" rIns="57150" bIns="28575" anchor="t">
            <a:noAutofit/>
          </a:bodyPr>
          <a:lstStyle xmlns:a="http://schemas.openxmlformats.org/drawingml/2006/main">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 Stevie, a visually impaired student</a:t>
            </a:r>
          </a:p>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Goal: Reach his next classroom</a:t>
            </a:r>
          </a:p>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Feature: Spoken route guidance</a:t>
            </a:r>
          </a:p>
          <a:p xmlns:a="http://schemas.openxmlformats.org/drawingml/2006/main">
            <a:pPr>
              <a:spcAft>
                <a:spcPts val="0"/>
              </a:spcAft>
              <a:buNone/>
            </a:pPr>
            <a:r>
              <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1. Stevie opens THEIA. It asks for his current location and destination. He says his starting point and classroom.</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2. THEIA reads both back. Stevie confirms them or corrects a mistake before starting.</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3. THEIA calculates the route. Stevie confirms that he is ready to begin.</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4. THEIA says, "walk ahead 10 steps, then turn left". Stevie follows the instruction.</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5. Stevie can say "repeat" to hear the current instruction or "stop" to end guidance.</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6. THEIA gives the next instruction as he follows the route and announces arrival at the classroom.</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Expected result: Stevie reaches the intended classroom with guidance at each route decision.</a:t>
            </a:r>
          </a:p>
        </p:txBody>
      </p:sp>
      <p:sp>
        <p:nvSpPr>
          <p:cNvPr id="24" name="TextBox 23">
            <a:extLst xmlns:a="http://schemas.openxmlformats.org/drawingml/2006/main">
              <a:ext uri="{FF2B5EF4-FFF2-40B4-BE49-F238E27FC236}">
                <a16:creationId xmlns:a16="http://schemas.microsoft.com/office/drawing/2014/main" id="{79565452-6205-4DBF-A99E-F1562E6C39B8}"/>
              </a:ext>
            </a:extLst>
          </p:cNvPr>
          <p:cNvSpPr>
            <a:spLocks xmlns:a="http://schemas.openxmlformats.org/drawingml/2006/main" noGrp="1"/>
          </p:cNvSpPr>
          <p:nvPr/>
        </p:nvSpPr>
        <p:spPr>
          <a:xfrm xmlns:a="http://schemas.openxmlformats.org/drawingml/2006/main">
            <a:off x="528034" y="321972"/>
            <a:ext cx="10818253"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xmlns:a="http://schemas.openxmlformats.org/drawingml/2006/main">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Classroom trip: TO-BE</a:t>
            </a:r>
          </a:p>
        </p:txBody>
      </p:sp>
    </p:spTree>
    <p:extLst>
      <p:ext uri="{BB962C8B-B14F-4D97-AF65-F5344CB8AC3E}">
        <p14:creationId xmlns:p14="http://schemas.microsoft.com/office/powerpoint/2010/main" val="358244126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9565452-6205-4DBF-A99E-F1562E6C39B8}"/>
              </a:ext>
            </a:extLst>
          </p:cNvPr>
          <p:cNvSpPr>
            <a:spLocks xmlns:a="http://schemas.openxmlformats.org/drawingml/2006/main" noGrp="1"/>
          </p:cNvSpPr>
          <p:nvPr/>
        </p:nvSpPr>
        <p:spPr>
          <a:xfrm xmlns:a="http://schemas.openxmlformats.org/drawingml/2006/main">
            <a:off x="528034" y="321972"/>
            <a:ext cx="10818253"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xmlns:a="http://schemas.openxmlformats.org/drawingml/2006/main">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Blocked hallway: AS-IS</a:t>
            </a:r>
          </a:p>
        </p:txBody>
      </p:sp>
      <p:sp>
        <p:nvSpPr>
          <p:cNvPr id="6" name="TextBox 5">
            <a:extLst xmlns:a="http://schemas.openxmlformats.org/drawingml/2006/main">
              <a:ext uri="{FF2B5EF4-FFF2-40B4-BE49-F238E27FC236}">
                <a16:creationId xmlns:a16="http://schemas.microsoft.com/office/drawing/2014/main" id="{0A02B431-4F72-4EB7-82AC-3322F54A5403}"/>
              </a:ext>
            </a:extLst>
          </p:cNvPr>
          <p:cNvSpPr>
            <a:spLocks xmlns:a="http://schemas.openxmlformats.org/drawingml/2006/main" noGrp="1"/>
          </p:cNvSpPr>
          <p:nvPr/>
        </p:nvSpPr>
        <p:spPr>
          <a:xfrm xmlns:a="http://schemas.openxmlformats.org/drawingml/2006/main">
            <a:off x="557784" y="877824"/>
            <a:ext cx="10572750" cy="2743200"/>
          </a:xfrm>
          <a:prstGeom xmlns:a="http://schemas.openxmlformats.org/drawingml/2006/main" prst="rect">
            <a:avLst/>
          </a:prstGeom>
          <a:noFill xmlns:a="http://schemas.openxmlformats.org/drawingml/2006/main"/>
        </p:spPr>
        <p:txBody>
          <a:bodyPr xmlns:a="http://schemas.openxmlformats.org/drawingml/2006/main" wrap="square" lIns="57150" tIns="28575" rIns="57150" bIns="28575" anchor="t">
            <a:noAutofit/>
          </a:bodyPr>
          <a:lstStyle xmlns:a="http://schemas.openxmlformats.org/drawingml/2006/main">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 A visually impaired student on a familiar route</a:t>
            </a:r>
          </a:p>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Goal: Get past a blocked hallway and reach class</a:t>
            </a:r>
          </a:p>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Feature: Obstacle warning and route changes</a:t>
            </a:r>
          </a:p>
          <a:p xmlns:a="http://schemas.openxmlformats.org/drawingml/2006/main">
            <a:pPr>
              <a:spcAft>
                <a:spcPts val="0"/>
              </a:spcAft>
              <a:buNone/>
            </a:pPr>
            <a:r>
              <a:t/>
            </a:r>
          </a:p>
          <a:p xmlns:a="http://schemas.openxmlformats.org/drawingml/2006/main">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The student walks toward a classroom using a hallway they already know.</a:t>
            </a:r>
          </a:p>
          <a:p xmlns:a="http://schemas.openxmlformats.org/drawingml/2006/main">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A maintenance cart now blocks the hallway. Their remembered directions do not account for it.</a:t>
            </a:r>
          </a:p>
          <a:p xmlns:a="http://schemas.openxmlformats.org/drawingml/2006/main">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The student stops and asks someone whether there is another way around.</a:t>
            </a:r>
          </a:p>
          <a:p xmlns:a="http://schemas.openxmlformats.org/drawingml/2006/main">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Result: The trip is interrupted, and the student needs new information before continuing.</a:t>
            </a:r>
          </a:p>
        </p:txBody>
      </p:sp>
    </p:spTree>
    <p:extLst>
      <p:ext uri="{BB962C8B-B14F-4D97-AF65-F5344CB8AC3E}">
        <p14:creationId xmlns:p14="http://schemas.microsoft.com/office/powerpoint/2010/main" val="302349232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3" name="TextBox 22">
            <a:extLst xmlns:a="http://schemas.openxmlformats.org/drawingml/2006/main">
              <a:ext uri="{FF2B5EF4-FFF2-40B4-BE49-F238E27FC236}">
                <a16:creationId xmlns:a16="http://schemas.microsoft.com/office/drawing/2014/main" id="{EFA11977-6C09-47A8-B4F1-FA7CF179A581}"/>
              </a:ext>
            </a:extLst>
          </p:cNvPr>
          <p:cNvSpPr>
            <a:spLocks xmlns:a="http://schemas.openxmlformats.org/drawingml/2006/main" noGrp="1"/>
          </p:cNvSpPr>
          <p:nvPr/>
        </p:nvSpPr>
        <p:spPr>
          <a:xfrm xmlns:a="http://schemas.openxmlformats.org/drawingml/2006/main">
            <a:off x="557784" y="877824"/>
            <a:ext cx="10572750" cy="3495040"/>
          </a:xfrm>
          <a:prstGeom xmlns:a="http://schemas.openxmlformats.org/drawingml/2006/main" prst="rect">
            <a:avLst/>
          </a:prstGeom>
          <a:noFill xmlns:a="http://schemas.openxmlformats.org/drawingml/2006/main"/>
        </p:spPr>
        <p:txBody>
          <a:bodyPr xmlns:a="http://schemas.openxmlformats.org/drawingml/2006/main" wrap="square" lIns="57150" tIns="28575" rIns="57150" bIns="28575" anchor="t">
            <a:noAutofit/>
          </a:bodyPr>
          <a:lstStyle xmlns:a="http://schemas.openxmlformats.org/drawingml/2006/main">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 A visually impaired student on a familiar route</a:t>
            </a:r>
          </a:p>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Goal: Get past a blocked hallway and reach class</a:t>
            </a:r>
          </a:p>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Feature: Obstacle warning and route changes</a:t>
            </a:r>
          </a:p>
          <a:p xmlns:a="http://schemas.openxmlformats.org/drawingml/2006/main">
            <a:pPr>
              <a:spcAft>
                <a:spcPts val="0"/>
              </a:spcAft>
              <a:buNone/>
            </a:pPr>
            <a:r>
              <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1. During guidance, THEIA receives information that the hallway ahead is blocked.</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2. THEIA says, "The hallway ahead is blocked. Stop here." The student stops.</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3. If a usable alternative is known, THEIA explains the route change and asks whether to use it.</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4. The student says "use that route". THEIA replaces the old directions and reads the first updated instruction.</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5. The student follows the new route, using "repeat" or "stop" if needed.</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Expected result: The student avoids the blocked section and receives directions toward the same classroom.</a:t>
            </a:r>
          </a:p>
        </p:txBody>
      </p:sp>
      <p:sp>
        <p:nvSpPr>
          <p:cNvPr id="24" name="TextBox 23">
            <a:extLst xmlns:a="http://schemas.openxmlformats.org/drawingml/2006/main">
              <a:ext uri="{FF2B5EF4-FFF2-40B4-BE49-F238E27FC236}">
                <a16:creationId xmlns:a16="http://schemas.microsoft.com/office/drawing/2014/main" id="{79565452-6205-4DBF-A99E-F1562E6C39B8}"/>
              </a:ext>
            </a:extLst>
          </p:cNvPr>
          <p:cNvSpPr>
            <a:spLocks xmlns:a="http://schemas.openxmlformats.org/drawingml/2006/main" noGrp="1"/>
          </p:cNvSpPr>
          <p:nvPr/>
        </p:nvSpPr>
        <p:spPr>
          <a:xfrm xmlns:a="http://schemas.openxmlformats.org/drawingml/2006/main">
            <a:off x="528034" y="321972"/>
            <a:ext cx="10818253"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xmlns:a="http://schemas.openxmlformats.org/drawingml/2006/main">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Blocked hallway: TO-BE</a:t>
            </a:r>
          </a:p>
        </p:txBody>
      </p:sp>
    </p:spTree>
    <p:extLst>
      <p:ext uri="{BB962C8B-B14F-4D97-AF65-F5344CB8AC3E}">
        <p14:creationId xmlns:p14="http://schemas.microsoft.com/office/powerpoint/2010/main" val="358244126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3" name="TextBox 22">
            <a:extLst xmlns:a="http://schemas.openxmlformats.org/drawingml/2006/main">
              <a:ext uri="{FF2B5EF4-FFF2-40B4-BE49-F238E27FC236}">
                <a16:creationId xmlns:a16="http://schemas.microsoft.com/office/drawing/2014/main" id="{EFA11977-6C09-47A8-B4F1-FA7CF179A581}"/>
              </a:ext>
            </a:extLst>
          </p:cNvPr>
          <p:cNvSpPr>
            <a:spLocks xmlns:a="http://schemas.openxmlformats.org/drawingml/2006/main" noGrp="1"/>
          </p:cNvSpPr>
          <p:nvPr/>
        </p:nvSpPr>
        <p:spPr>
          <a:xfrm xmlns:a="http://schemas.openxmlformats.org/drawingml/2006/main">
            <a:off x="557784" y="877824"/>
            <a:ext cx="10572750" cy="2641600"/>
          </a:xfrm>
          <a:prstGeom xmlns:a="http://schemas.openxmlformats.org/drawingml/2006/main" prst="rect">
            <a:avLst/>
          </a:prstGeom>
          <a:noFill xmlns:a="http://schemas.openxmlformats.org/drawingml/2006/main"/>
        </p:spPr>
        <p:txBody>
          <a:bodyPr xmlns:a="http://schemas.openxmlformats.org/drawingml/2006/main" wrap="square" lIns="57150" tIns="28575" rIns="57150" bIns="28575" anchor="t">
            <a:noAutofit/>
          </a:bodyPr>
          <a:lstStyle xmlns:a="http://schemas.openxmlformats.org/drawingml/2006/main">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 The student from the blocked hallway scenario</a:t>
            </a:r>
          </a:p>
          <a:p xmlns:a="http://schemas.openxmlformats.org/drawingml/2006/main">
            <a:pPr>
              <a:spcAft>
                <a:spcPts val="0"/>
              </a:spcAft>
              <a:buNone/>
            </a:pPr>
            <a:r>
              <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No alternative is known: THEIA says it cannot provide a route around the blockage. The student can request help or stop guidance.</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The student declines the change: THEIA keeps guidance paused and asks whether they want help or to stop.</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The warning was missed: The student can say "repeat" to hear the warning again before choosing what to do.</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Assumption for this example: The blockage is known before the student reaches it. The mock-up supplies that information.</a:t>
            </a:r>
          </a:p>
        </p:txBody>
      </p:sp>
      <p:sp>
        <p:nvSpPr>
          <p:cNvPr id="24" name="TextBox 23">
            <a:extLst xmlns:a="http://schemas.openxmlformats.org/drawingml/2006/main">
              <a:ext uri="{FF2B5EF4-FFF2-40B4-BE49-F238E27FC236}">
                <a16:creationId xmlns:a16="http://schemas.microsoft.com/office/drawing/2014/main" id="{79565452-6205-4DBF-A99E-F1562E6C39B8}"/>
              </a:ext>
            </a:extLst>
          </p:cNvPr>
          <p:cNvSpPr>
            <a:spLocks xmlns:a="http://schemas.openxmlformats.org/drawingml/2006/main" noGrp="1"/>
          </p:cNvSpPr>
          <p:nvPr/>
        </p:nvSpPr>
        <p:spPr>
          <a:xfrm xmlns:a="http://schemas.openxmlformats.org/drawingml/2006/main">
            <a:off x="528034" y="321972"/>
            <a:ext cx="10818253"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xmlns:a="http://schemas.openxmlformats.org/drawingml/2006/main">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Blocked hallway: Possible problems</a:t>
            </a:r>
          </a:p>
        </p:txBody>
      </p:sp>
    </p:spTree>
    <p:extLst>
      <p:ext uri="{BB962C8B-B14F-4D97-AF65-F5344CB8AC3E}">
        <p14:creationId xmlns:p14="http://schemas.microsoft.com/office/powerpoint/2010/main" val="358244126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9565452-6205-4DBF-A99E-F1562E6C39B8}"/>
              </a:ext>
            </a:extLst>
          </p:cNvPr>
          <p:cNvSpPr>
            <a:spLocks xmlns:a="http://schemas.openxmlformats.org/drawingml/2006/main" noGrp="1"/>
          </p:cNvSpPr>
          <p:nvPr/>
        </p:nvSpPr>
        <p:spPr>
          <a:xfrm xmlns:a="http://schemas.openxmlformats.org/drawingml/2006/main">
            <a:off x="528034" y="321972"/>
            <a:ext cx="10818253"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xmlns:a="http://schemas.openxmlformats.org/drawingml/2006/main">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Lost visitor: AS-IS</a:t>
            </a:r>
          </a:p>
        </p:txBody>
      </p:sp>
      <p:sp>
        <p:nvSpPr>
          <p:cNvPr id="6" name="TextBox 5">
            <a:extLst xmlns:a="http://schemas.openxmlformats.org/drawingml/2006/main">
              <a:ext uri="{FF2B5EF4-FFF2-40B4-BE49-F238E27FC236}">
                <a16:creationId xmlns:a16="http://schemas.microsoft.com/office/drawing/2014/main" id="{0A02B431-4F72-4EB7-82AC-3322F54A5403}"/>
              </a:ext>
            </a:extLst>
          </p:cNvPr>
          <p:cNvSpPr>
            <a:spLocks xmlns:a="http://schemas.openxmlformats.org/drawingml/2006/main" noGrp="1"/>
          </p:cNvSpPr>
          <p:nvPr/>
        </p:nvSpPr>
        <p:spPr>
          <a:xfrm xmlns:a="http://schemas.openxmlformats.org/drawingml/2006/main">
            <a:off x="557784" y="877824"/>
            <a:ext cx="10572750" cy="2743200"/>
          </a:xfrm>
          <a:prstGeom xmlns:a="http://schemas.openxmlformats.org/drawingml/2006/main" prst="rect">
            <a:avLst/>
          </a:prstGeom>
          <a:noFill xmlns:a="http://schemas.openxmlformats.org/drawingml/2006/main"/>
        </p:spPr>
        <p:txBody>
          <a:bodyPr xmlns:a="http://schemas.openxmlformats.org/drawingml/2006/main" wrap="square" lIns="57150" tIns="28575" rIns="57150" bIns="28575" anchor="t">
            <a:noAutofit/>
          </a:bodyPr>
          <a:lstStyle xmlns:a="http://schemas.openxmlformats.org/drawingml/2006/main">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 A visually impaired visitor in an unfamiliar building</a:t>
            </a:r>
          </a:p>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Goal: Reach someone who can help them get oriented</a:t>
            </a:r>
          </a:p>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Feature: Requesting help when location is unclear</a:t>
            </a:r>
          </a:p>
          <a:p xmlns:a="http://schemas.openxmlformats.org/drawingml/2006/main">
            <a:pPr>
              <a:spcAft>
                <a:spcPts val="0"/>
              </a:spcAft>
              <a:buNone/>
            </a:pPr>
            <a:r>
              <a:t/>
            </a:r>
          </a:p>
          <a:p xmlns:a="http://schemas.openxmlformats.org/drawingml/2006/main">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The visitor loses track of their location while trying to find a room.</a:t>
            </a:r>
          </a:p>
          <a:p xmlns:a="http://schemas.openxmlformats.org/drawingml/2006/main">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They stop, but cannot confidently describe the hallway they are in.</a:t>
            </a:r>
          </a:p>
          <a:p xmlns:a="http://schemas.openxmlformats.org/drawingml/2006/main">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They try to find someone nearby who can help them get oriented.</a:t>
            </a:r>
          </a:p>
          <a:p xmlns:a="http://schemas.openxmlformats.org/drawingml/2006/main">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Result: The visitor cannot continue the trip confidently and has no clear confirmation that help is coming.</a:t>
            </a:r>
          </a:p>
        </p:txBody>
      </p:sp>
    </p:spTree>
    <p:extLst>
      <p:ext uri="{BB962C8B-B14F-4D97-AF65-F5344CB8AC3E}">
        <p14:creationId xmlns:p14="http://schemas.microsoft.com/office/powerpoint/2010/main" val="302349232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3" name="TextBox 22">
            <a:extLst xmlns:a="http://schemas.openxmlformats.org/drawingml/2006/main">
              <a:ext uri="{FF2B5EF4-FFF2-40B4-BE49-F238E27FC236}">
                <a16:creationId xmlns:a16="http://schemas.microsoft.com/office/drawing/2014/main" id="{EFA11977-6C09-47A8-B4F1-FA7CF179A581}"/>
              </a:ext>
            </a:extLst>
          </p:cNvPr>
          <p:cNvSpPr>
            <a:spLocks xmlns:a="http://schemas.openxmlformats.org/drawingml/2006/main" noGrp="1"/>
          </p:cNvSpPr>
          <p:nvPr/>
        </p:nvSpPr>
        <p:spPr>
          <a:xfrm xmlns:a="http://schemas.openxmlformats.org/drawingml/2006/main">
            <a:off x="557784" y="877824"/>
            <a:ext cx="10572750" cy="3495040"/>
          </a:xfrm>
          <a:prstGeom xmlns:a="http://schemas.openxmlformats.org/drawingml/2006/main" prst="rect">
            <a:avLst/>
          </a:prstGeom>
          <a:noFill xmlns:a="http://schemas.openxmlformats.org/drawingml/2006/main"/>
        </p:spPr>
        <p:txBody>
          <a:bodyPr xmlns:a="http://schemas.openxmlformats.org/drawingml/2006/main" wrap="square" lIns="57150" tIns="28575" rIns="57150" bIns="28575" anchor="t">
            <a:noAutofit/>
          </a:bodyPr>
          <a:lstStyle xmlns:a="http://schemas.openxmlformats.org/drawingml/2006/main">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 A visually impaired visitor in an unfamiliar building</a:t>
            </a:r>
          </a:p>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Goal: Reach someone who can help them get oriented</a:t>
            </a:r>
          </a:p>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Feature: Requesting help when location is unclear</a:t>
            </a:r>
          </a:p>
          <a:p xmlns:a="http://schemas.openxmlformats.org/drawingml/2006/main">
            <a:pPr>
              <a:spcAft>
                <a:spcPts val="0"/>
              </a:spcAft>
              <a:buNone/>
            </a:pPr>
            <a:r>
              <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1. THEIA says the current location is uncertain and pauses route guidance.</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2. The visitor says "help". THEIA reads the available support contacts.</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3. The visitor says a contact's name. THEIA reads the choice back and asks whether to request help.</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4. The visitor says "confirm". THEIA starts the request and says whether it is connecting or has connected.</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5. If the contact responds, the visitor speaks with them and explains any landmarks they can identify.</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Expected result: The visitor reaches a chosen support contact and understands whether the request connected.</a:t>
            </a:r>
          </a:p>
        </p:txBody>
      </p:sp>
      <p:sp>
        <p:nvSpPr>
          <p:cNvPr id="24" name="TextBox 23">
            <a:extLst xmlns:a="http://schemas.openxmlformats.org/drawingml/2006/main">
              <a:ext uri="{FF2B5EF4-FFF2-40B4-BE49-F238E27FC236}">
                <a16:creationId xmlns:a16="http://schemas.microsoft.com/office/drawing/2014/main" id="{79565452-6205-4DBF-A99E-F1562E6C39B8}"/>
              </a:ext>
            </a:extLst>
          </p:cNvPr>
          <p:cNvSpPr>
            <a:spLocks xmlns:a="http://schemas.openxmlformats.org/drawingml/2006/main" noGrp="1"/>
          </p:cNvSpPr>
          <p:nvPr/>
        </p:nvSpPr>
        <p:spPr>
          <a:xfrm xmlns:a="http://schemas.openxmlformats.org/drawingml/2006/main">
            <a:off x="528034" y="321972"/>
            <a:ext cx="10818253"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xmlns:a="http://schemas.openxmlformats.org/drawingml/2006/main">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Lost visitor: TO-BE</a:t>
            </a:r>
          </a:p>
        </p:txBody>
      </p:sp>
    </p:spTree>
    <p:extLst>
      <p:ext uri="{BB962C8B-B14F-4D97-AF65-F5344CB8AC3E}">
        <p14:creationId xmlns:p14="http://schemas.microsoft.com/office/powerpoint/2010/main" val="358244126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3" name="TextBox 22">
            <a:extLst xmlns:a="http://schemas.openxmlformats.org/drawingml/2006/main">
              <a:ext uri="{FF2B5EF4-FFF2-40B4-BE49-F238E27FC236}">
                <a16:creationId xmlns:a16="http://schemas.microsoft.com/office/drawing/2014/main" id="{EFA11977-6C09-47A8-B4F1-FA7CF179A581}"/>
              </a:ext>
            </a:extLst>
          </p:cNvPr>
          <p:cNvSpPr>
            <a:spLocks xmlns:a="http://schemas.openxmlformats.org/drawingml/2006/main" noGrp="1"/>
          </p:cNvSpPr>
          <p:nvPr/>
        </p:nvSpPr>
        <p:spPr>
          <a:xfrm xmlns:a="http://schemas.openxmlformats.org/drawingml/2006/main">
            <a:off x="557784" y="877824"/>
            <a:ext cx="10572750" cy="2641600"/>
          </a:xfrm>
          <a:prstGeom xmlns:a="http://schemas.openxmlformats.org/drawingml/2006/main" prst="rect">
            <a:avLst/>
          </a:prstGeom>
          <a:noFill xmlns:a="http://schemas.openxmlformats.org/drawingml/2006/main"/>
        </p:spPr>
        <p:txBody>
          <a:bodyPr xmlns:a="http://schemas.openxmlformats.org/drawingml/2006/main" wrap="square" lIns="57150" tIns="28575" rIns="57150" bIns="28575" anchor="t">
            <a:noAutofit/>
          </a:bodyPr>
          <a:lstStyle xmlns:a="http://schemas.openxmlformats.org/drawingml/2006/main">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 The visitor from the help request scenario</a:t>
            </a:r>
          </a:p>
          <a:p xmlns:a="http://schemas.openxmlformats.org/drawingml/2006/main">
            <a:pPr>
              <a:spcAft>
                <a:spcPts val="0"/>
              </a:spcAft>
              <a:buNone/>
            </a:pPr>
            <a:r>
              <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The wrong contact was selected: The visitor corrects the choice before confirming the request.</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The visitor cancels before confirming: THEIA does not contact anyone and keeps route guidance paused.</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The contact cannot be reached: THEIA says the request did not connect and offers another contact or cancellation.</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Location is still uncertain: THEIA says so. A request does not mean someone has responded or knows where the visitor is.</a:t>
            </a:r>
          </a:p>
        </p:txBody>
      </p:sp>
      <p:sp>
        <p:nvSpPr>
          <p:cNvPr id="24" name="TextBox 23">
            <a:extLst xmlns:a="http://schemas.openxmlformats.org/drawingml/2006/main">
              <a:ext uri="{FF2B5EF4-FFF2-40B4-BE49-F238E27FC236}">
                <a16:creationId xmlns:a16="http://schemas.microsoft.com/office/drawing/2014/main" id="{79565452-6205-4DBF-A99E-F1562E6C39B8}"/>
              </a:ext>
            </a:extLst>
          </p:cNvPr>
          <p:cNvSpPr>
            <a:spLocks xmlns:a="http://schemas.openxmlformats.org/drawingml/2006/main" noGrp="1"/>
          </p:cNvSpPr>
          <p:nvPr/>
        </p:nvSpPr>
        <p:spPr>
          <a:xfrm xmlns:a="http://schemas.openxmlformats.org/drawingml/2006/main">
            <a:off x="528034" y="321972"/>
            <a:ext cx="10818253"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xmlns:a="http://schemas.openxmlformats.org/drawingml/2006/main">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Lost visitor: Possible problems</a:t>
            </a:r>
          </a:p>
        </p:txBody>
      </p:sp>
    </p:spTree>
    <p:extLst>
      <p:ext uri="{BB962C8B-B14F-4D97-AF65-F5344CB8AC3E}">
        <p14:creationId xmlns:p14="http://schemas.microsoft.com/office/powerpoint/2010/main" val="358244126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9565452-6205-4DBF-A99E-F1562E6C39B8}"/>
              </a:ext>
            </a:extLst>
          </p:cNvPr>
          <p:cNvSpPr>
            <a:spLocks xmlns:a="http://schemas.openxmlformats.org/drawingml/2006/main" noGrp="1"/>
          </p:cNvSpPr>
          <p:nvPr/>
        </p:nvSpPr>
        <p:spPr>
          <a:xfrm xmlns:a="http://schemas.openxmlformats.org/drawingml/2006/main">
            <a:off x="528034" y="321972"/>
            <a:ext cx="10818253"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xmlns:a="http://schemas.openxmlformats.org/drawingml/2006/main">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Guidance settings: AS-IS</a:t>
            </a:r>
          </a:p>
        </p:txBody>
      </p:sp>
      <p:sp>
        <p:nvSpPr>
          <p:cNvPr id="6" name="TextBox 5">
            <a:extLst xmlns:a="http://schemas.openxmlformats.org/drawingml/2006/main">
              <a:ext uri="{FF2B5EF4-FFF2-40B4-BE49-F238E27FC236}">
                <a16:creationId xmlns:a16="http://schemas.microsoft.com/office/drawing/2014/main" id="{0A02B431-4F72-4EB7-82AC-3322F54A5403}"/>
              </a:ext>
            </a:extLst>
          </p:cNvPr>
          <p:cNvSpPr>
            <a:spLocks xmlns:a="http://schemas.openxmlformats.org/drawingml/2006/main" noGrp="1"/>
          </p:cNvSpPr>
          <p:nvPr/>
        </p:nvSpPr>
        <p:spPr>
          <a:xfrm xmlns:a="http://schemas.openxmlformats.org/drawingml/2006/main">
            <a:off x="557784" y="877824"/>
            <a:ext cx="10572750" cy="2743200"/>
          </a:xfrm>
          <a:prstGeom xmlns:a="http://schemas.openxmlformats.org/drawingml/2006/main" prst="rect">
            <a:avLst/>
          </a:prstGeom>
          <a:noFill xmlns:a="http://schemas.openxmlformats.org/drawingml/2006/main"/>
        </p:spPr>
        <p:txBody>
          <a:bodyPr xmlns:a="http://schemas.openxmlformats.org/drawingml/2006/main" wrap="square" lIns="57150" tIns="28575" rIns="57150" bIns="28575" anchor="t">
            <a:noAutofit/>
          </a:bodyPr>
          <a:lstStyle xmlns:a="http://schemas.openxmlformats.org/drawingml/2006/main">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Users: A visually impaired user and their caretaker</a:t>
            </a:r>
          </a:p>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Goal: Make spoken guidance easier to hear and follow</a:t>
            </a:r>
          </a:p>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Feature: Spoken guidance settings</a:t>
            </a:r>
          </a:p>
          <a:p xmlns:a="http://schemas.openxmlformats.org/drawingml/2006/main">
            <a:pPr>
              <a:spcAft>
                <a:spcPts val="0"/>
              </a:spcAft>
              <a:buNone/>
            </a:pPr>
            <a:r>
              <a:t/>
            </a:r>
          </a:p>
          <a:p xmlns:a="http://schemas.openxmlformats.org/drawingml/2006/main">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The user finds the spoken directions too quiet and hears repeated instructions more often than they need.</a:t>
            </a:r>
          </a:p>
          <a:p xmlns:a="http://schemas.openxmlformats.org/drawingml/2006/main">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They ask their caretaker to help adjust the settings.</a:t>
            </a:r>
          </a:p>
          <a:p xmlns:a="http://schemas.openxmlformats.org/drawingml/2006/main">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The user has trouble checking visual controls and cannot easily tell whether the changes are right.</a:t>
            </a:r>
          </a:p>
          <a:p xmlns:a="http://schemas.openxmlformats.org/drawingml/2006/main">
            <a:pPr marL="304800" indent="-228600" algn="l">
              <a:spcAft>
                <a:spcPts val="800"/>
              </a:spcAft>
              <a:buChar char="•"/>
              <a:defRPr sz="1800">
                <a:solidFill>
                  <a:srgbClr val="000000"/>
                </a:solidFill>
                <a:latin typeface="Calibri"/>
                <a:ea typeface="Calibri"/>
                <a:cs typeface="Calibri"/>
              </a:defRPr>
            </a:pPr>
            <a:r>
              <a:rPr sz="1800">
                <a:solidFill>
                  <a:srgbClr val="000000"/>
                </a:solidFill>
                <a:latin typeface="Calibri"/>
                <a:ea typeface="Calibri"/>
                <a:cs typeface="Calibri"/>
              </a:rPr>
              <a:t>Result: The caretaker can help make changes, but the user cannot easily check or approve the result.</a:t>
            </a:r>
          </a:p>
        </p:txBody>
      </p:sp>
    </p:spTree>
    <p:extLst>
      <p:ext uri="{BB962C8B-B14F-4D97-AF65-F5344CB8AC3E}">
        <p14:creationId xmlns:p14="http://schemas.microsoft.com/office/powerpoint/2010/main" val="302349232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3" name="TextBox 22">
            <a:extLst xmlns:a="http://schemas.openxmlformats.org/drawingml/2006/main">
              <a:ext uri="{FF2B5EF4-FFF2-40B4-BE49-F238E27FC236}">
                <a16:creationId xmlns:a16="http://schemas.microsoft.com/office/drawing/2014/main" id="{EFA11977-6C09-47A8-B4F1-FA7CF179A581}"/>
              </a:ext>
            </a:extLst>
          </p:cNvPr>
          <p:cNvSpPr>
            <a:spLocks xmlns:a="http://schemas.openxmlformats.org/drawingml/2006/main" noGrp="1"/>
          </p:cNvSpPr>
          <p:nvPr/>
        </p:nvSpPr>
        <p:spPr>
          <a:xfrm xmlns:a="http://schemas.openxmlformats.org/drawingml/2006/main">
            <a:off x="557784" y="877824"/>
            <a:ext cx="10572750" cy="3495040"/>
          </a:xfrm>
          <a:prstGeom xmlns:a="http://schemas.openxmlformats.org/drawingml/2006/main" prst="rect">
            <a:avLst/>
          </a:prstGeom>
          <a:noFill xmlns:a="http://schemas.openxmlformats.org/drawingml/2006/main"/>
        </p:spPr>
        <p:txBody>
          <a:bodyPr xmlns:a="http://schemas.openxmlformats.org/drawingml/2006/main" wrap="square" lIns="57150" tIns="28575" rIns="57150" bIns="28575" anchor="t">
            <a:noAutofit/>
          </a:bodyPr>
          <a:lstStyle xmlns:a="http://schemas.openxmlformats.org/drawingml/2006/main">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Users: A visually impaired user and their caretaker</a:t>
            </a:r>
          </a:p>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Goal: Make spoken guidance easier to hear and follow</a:t>
            </a:r>
          </a:p>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Feature: Spoken guidance settings</a:t>
            </a:r>
          </a:p>
          <a:p xmlns:a="http://schemas.openxmlformats.org/drawingml/2006/main">
            <a:pPr>
              <a:spcAft>
                <a:spcPts val="0"/>
              </a:spcAft>
              <a:buNone/>
            </a:pPr>
            <a:r>
              <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1. The user says "settings". THEIA reads the current volume and instruction frequency.</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2. THEIA reads the choices. The user says "louder" and "fewer repeats" to select the changes.</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3. THEIA reads back the proposed changes and plays a sample instruction.</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4. The user listens, then changes the choices again or says "save" to confirm them.</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5. THEIA says the settings were saved. Saying "cancel" before saving keeps the previous settings.</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Expected result: The user can hear and approve the guidance settings, with caretaker help if needed.</a:t>
            </a:r>
          </a:p>
        </p:txBody>
      </p:sp>
      <p:sp>
        <p:nvSpPr>
          <p:cNvPr id="24" name="TextBox 23">
            <a:extLst xmlns:a="http://schemas.openxmlformats.org/drawingml/2006/main">
              <a:ext uri="{FF2B5EF4-FFF2-40B4-BE49-F238E27FC236}">
                <a16:creationId xmlns:a16="http://schemas.microsoft.com/office/drawing/2014/main" id="{79565452-6205-4DBF-A99E-F1562E6C39B8}"/>
              </a:ext>
            </a:extLst>
          </p:cNvPr>
          <p:cNvSpPr>
            <a:spLocks xmlns:a="http://schemas.openxmlformats.org/drawingml/2006/main" noGrp="1"/>
          </p:cNvSpPr>
          <p:nvPr/>
        </p:nvSpPr>
        <p:spPr>
          <a:xfrm xmlns:a="http://schemas.openxmlformats.org/drawingml/2006/main">
            <a:off x="528034" y="321972"/>
            <a:ext cx="10818253"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xmlns:a="http://schemas.openxmlformats.org/drawingml/2006/main">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Guidance settings: TO-BE</a:t>
            </a:r>
          </a:p>
        </p:txBody>
      </p:sp>
    </p:spTree>
    <p:extLst>
      <p:ext uri="{BB962C8B-B14F-4D97-AF65-F5344CB8AC3E}">
        <p14:creationId xmlns:p14="http://schemas.microsoft.com/office/powerpoint/2010/main" val="358244126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3" name="TextBox 22">
            <a:extLst xmlns:a="http://schemas.openxmlformats.org/drawingml/2006/main">
              <a:ext uri="{FF2B5EF4-FFF2-40B4-BE49-F238E27FC236}">
                <a16:creationId xmlns:a16="http://schemas.microsoft.com/office/drawing/2014/main" id="{EFA11977-6C09-47A8-B4F1-FA7CF179A581}"/>
              </a:ext>
            </a:extLst>
          </p:cNvPr>
          <p:cNvSpPr>
            <a:spLocks xmlns:a="http://schemas.openxmlformats.org/drawingml/2006/main" noGrp="1"/>
          </p:cNvSpPr>
          <p:nvPr/>
        </p:nvSpPr>
        <p:spPr>
          <a:xfrm xmlns:a="http://schemas.openxmlformats.org/drawingml/2006/main">
            <a:off x="557784" y="877824"/>
            <a:ext cx="10572750" cy="2367280"/>
          </a:xfrm>
          <a:prstGeom xmlns:a="http://schemas.openxmlformats.org/drawingml/2006/main" prst="rect">
            <a:avLst/>
          </a:prstGeom>
          <a:noFill xmlns:a="http://schemas.openxmlformats.org/drawingml/2006/main"/>
        </p:spPr>
        <p:txBody>
          <a:bodyPr xmlns:a="http://schemas.openxmlformats.org/drawingml/2006/main" wrap="square" lIns="57150" tIns="28575" rIns="57150" bIns="28575" anchor="t">
            <a:noAutofit/>
          </a:bodyPr>
          <a:lstStyle xmlns:a="http://schemas.openxmlformats.org/drawingml/2006/main">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Users: The user and caretaker from the settings scenario</a:t>
            </a:r>
          </a:p>
          <a:p xmlns:a="http://schemas.openxmlformats.org/drawingml/2006/main">
            <a:pPr>
              <a:spcAft>
                <a:spcPts val="0"/>
              </a:spcAft>
              <a:buNone/>
            </a:pPr>
            <a:r>
              <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The choice is not understood: THEIA asks the user to repeat it and keeps the previous settings.</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The sample is still too quiet: The user chooses a louder setting and previews it again before saving.</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The user cancels: THEIA discards the proposed changes and confirms that the previous settings remain.</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Fewer repeats must still include necessary turn instructions and hazard warnings. The setting changes repetition, not essential guidance.</a:t>
            </a:r>
          </a:p>
        </p:txBody>
      </p:sp>
      <p:sp>
        <p:nvSpPr>
          <p:cNvPr id="24" name="TextBox 23">
            <a:extLst xmlns:a="http://schemas.openxmlformats.org/drawingml/2006/main">
              <a:ext uri="{FF2B5EF4-FFF2-40B4-BE49-F238E27FC236}">
                <a16:creationId xmlns:a16="http://schemas.microsoft.com/office/drawing/2014/main" id="{79565452-6205-4DBF-A99E-F1562E6C39B8}"/>
              </a:ext>
            </a:extLst>
          </p:cNvPr>
          <p:cNvSpPr>
            <a:spLocks xmlns:a="http://schemas.openxmlformats.org/drawingml/2006/main" noGrp="1"/>
          </p:cNvSpPr>
          <p:nvPr/>
        </p:nvSpPr>
        <p:spPr>
          <a:xfrm xmlns:a="http://schemas.openxmlformats.org/drawingml/2006/main">
            <a:off x="528034" y="321972"/>
            <a:ext cx="10818253"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xmlns:a="http://schemas.openxmlformats.org/drawingml/2006/main">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Guidance settings: Possible problems</a:t>
            </a:r>
          </a:p>
        </p:txBody>
      </p:sp>
    </p:spTree>
    <p:extLst>
      <p:ext uri="{BB962C8B-B14F-4D97-AF65-F5344CB8AC3E}">
        <p14:creationId xmlns:p14="http://schemas.microsoft.com/office/powerpoint/2010/main" val="358244126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3" name="TextBox 22">
            <a:extLst xmlns:a="http://schemas.openxmlformats.org/drawingml/2006/main">
              <a:ext uri="{FF2B5EF4-FFF2-40B4-BE49-F238E27FC236}">
                <a16:creationId xmlns:a16="http://schemas.microsoft.com/office/drawing/2014/main" id="{EFA11977-6C09-47A8-B4F1-FA7CF179A581}"/>
              </a:ext>
            </a:extLst>
          </p:cNvPr>
          <p:cNvSpPr>
            <a:spLocks xmlns:a="http://schemas.openxmlformats.org/drawingml/2006/main" noGrp="1"/>
          </p:cNvSpPr>
          <p:nvPr/>
        </p:nvSpPr>
        <p:spPr>
          <a:xfrm xmlns:a="http://schemas.openxmlformats.org/drawingml/2006/main">
            <a:off x="557784" y="877824"/>
            <a:ext cx="10572750" cy="2692400"/>
          </a:xfrm>
          <a:prstGeom xmlns:a="http://schemas.openxmlformats.org/drawingml/2006/main" prst="rect">
            <a:avLst/>
          </a:prstGeom>
          <a:noFill xmlns:a="http://schemas.openxmlformats.org/drawingml/2006/main"/>
        </p:spPr>
        <p:txBody>
          <a:bodyPr xmlns:a="http://schemas.openxmlformats.org/drawingml/2006/main" wrap="square" lIns="57150" tIns="28575" rIns="57150" bIns="28575" anchor="t">
            <a:noAutofit/>
          </a:bodyPr>
          <a:lstStyle xmlns:a="http://schemas.openxmlformats.org/drawingml/2006/main">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Priority: A repeated student trip with a risk of injury</a:t>
            </a:r>
          </a:p>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Lesson 6 analysis of the classroom TO-BE scenario</a:t>
            </a:r>
          </a:p>
          <a:p xmlns:a="http://schemas.openxmlformats.org/drawingml/2006/main">
            <a:pPr>
              <a:spcAft>
                <a:spcPts val="0"/>
              </a:spcAft>
              <a:buNone/>
            </a:pPr>
            <a:r>
              <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Who starts guidance? Stevie gives and confirms his current location and classroom destination.</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What kinds of trips does this scenario cover? A classroom trip inside a building.</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When does guidance start? After Stevie confirms the route details. The turn cue needs to match the correct corner.</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How does Stevie control guidance? He says "repeat" to hear the current instruction or "stop" to end it.</a:t>
            </a:r>
          </a:p>
        </p:txBody>
      </p:sp>
      <p:sp>
        <p:nvSpPr>
          <p:cNvPr id="24" name="TextBox 23">
            <a:extLst xmlns:a="http://schemas.openxmlformats.org/drawingml/2006/main">
              <a:ext uri="{FF2B5EF4-FFF2-40B4-BE49-F238E27FC236}">
                <a16:creationId xmlns:a16="http://schemas.microsoft.com/office/drawing/2014/main" id="{79565452-6205-4DBF-A99E-F1562E6C39B8}"/>
              </a:ext>
            </a:extLst>
          </p:cNvPr>
          <p:cNvSpPr>
            <a:spLocks xmlns:a="http://schemas.openxmlformats.org/drawingml/2006/main" noGrp="1"/>
          </p:cNvSpPr>
          <p:nvPr/>
        </p:nvSpPr>
        <p:spPr>
          <a:xfrm xmlns:a="http://schemas.openxmlformats.org/drawingml/2006/main">
            <a:off x="528034" y="321972"/>
            <a:ext cx="10818253"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xmlns:a="http://schemas.openxmlformats.org/drawingml/2006/main">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Top priority: Classroom guidance</a:t>
            </a:r>
          </a:p>
        </p:txBody>
      </p:sp>
    </p:spTree>
    <p:extLst>
      <p:ext uri="{BB962C8B-B14F-4D97-AF65-F5344CB8AC3E}">
        <p14:creationId xmlns:p14="http://schemas.microsoft.com/office/powerpoint/2010/main" val="358244126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3" name="TextBox 22">
            <a:extLst xmlns:a="http://schemas.openxmlformats.org/drawingml/2006/main">
              <a:ext uri="{FF2B5EF4-FFF2-40B4-BE49-F238E27FC236}">
                <a16:creationId xmlns:a16="http://schemas.microsoft.com/office/drawing/2014/main" id="{EFA11977-6C09-47A8-B4F1-FA7CF179A581}"/>
              </a:ext>
            </a:extLst>
          </p:cNvPr>
          <p:cNvSpPr>
            <a:spLocks xmlns:a="http://schemas.openxmlformats.org/drawingml/2006/main" noGrp="1"/>
          </p:cNvSpPr>
          <p:nvPr/>
        </p:nvSpPr>
        <p:spPr>
          <a:xfrm xmlns:a="http://schemas.openxmlformats.org/drawingml/2006/main">
            <a:off x="557784" y="877824"/>
            <a:ext cx="10572750" cy="2743200"/>
          </a:xfrm>
          <a:prstGeom xmlns:a="http://schemas.openxmlformats.org/drawingml/2006/main" prst="rect">
            <a:avLst/>
          </a:prstGeom>
          <a:noFill xmlns:a="http://schemas.openxmlformats.org/drawingml/2006/main"/>
        </p:spPr>
        <p:txBody>
          <a:bodyPr xmlns:a="http://schemas.openxmlformats.org/drawingml/2006/main" wrap="square" lIns="57150" tIns="28575" rIns="57150" bIns="28575" anchor="t">
            <a:noAutofit/>
          </a:bodyPr>
          <a:lstStyle xmlns:a="http://schemas.openxmlformats.org/drawingml/2006/main">
            <a:defPPr algn="l">
              <a:defRPr sz="1800">
                <a:solidFill>
                  <a:srgbClr val="000000"/>
                </a:solidFill>
                <a:latin typeface="Calibri"/>
                <a:ea typeface="Calibri"/>
                <a:cs typeface="Calibri"/>
              </a:defRPr>
            </a:defPPr>
            <a:lvl1pPr algn="l">
              <a:defRPr sz="1800">
                <a:solidFill>
                  <a:srgbClr val="000000"/>
                </a:solidFill>
                <a:latin typeface="Calibri"/>
                <a:ea typeface="Calibri"/>
                <a:cs typeface="Calibri"/>
              </a:defRPr>
            </a:lvl1pPr>
            <a:lvl2pPr algn="l">
              <a:defRPr sz="1800">
                <a:solidFill>
                  <a:srgbClr val="000000"/>
                </a:solidFill>
                <a:latin typeface="Calibri"/>
                <a:ea typeface="Calibri"/>
                <a:cs typeface="Calibri"/>
              </a:defRPr>
            </a:lvl2pPr>
            <a:lvl3pPr algn="l">
              <a:defRPr sz="1800">
                <a:solidFill>
                  <a:srgbClr val="000000"/>
                </a:solidFill>
                <a:latin typeface="Calibri"/>
                <a:ea typeface="Calibri"/>
                <a:cs typeface="Calibri"/>
              </a:defRPr>
            </a:lvl3pPr>
            <a:lvl4pPr algn="l">
              <a:defRPr sz="1800">
                <a:solidFill>
                  <a:srgbClr val="000000"/>
                </a:solidFill>
                <a:latin typeface="Calibri"/>
                <a:ea typeface="Calibri"/>
                <a:cs typeface="Calibri"/>
              </a:defRPr>
            </a:lvl4pPr>
            <a:lvl5pPr algn="l">
              <a:defRPr sz="1800">
                <a:solidFill>
                  <a:srgbClr val="000000"/>
                </a:solidFill>
                <a:latin typeface="Calibri"/>
                <a:ea typeface="Calibri"/>
                <a:cs typeface="Calibri"/>
              </a:defRPr>
            </a:lvl5pPr>
            <a:lvl6pPr algn="l">
              <a:defRPr sz="1800">
                <a:solidFill>
                  <a:srgbClr val="000000"/>
                </a:solidFill>
                <a:latin typeface="Calibri"/>
                <a:ea typeface="Calibri"/>
                <a:cs typeface="Calibri"/>
              </a:defRPr>
            </a:lvl6pPr>
            <a:lvl7pPr algn="l">
              <a:defRPr sz="1800">
                <a:solidFill>
                  <a:srgbClr val="000000"/>
                </a:solidFill>
                <a:latin typeface="Calibri"/>
                <a:ea typeface="Calibri"/>
                <a:cs typeface="Calibri"/>
              </a:defRPr>
            </a:lvl7pPr>
            <a:lvl8pPr algn="l">
              <a:defRPr sz="1800">
                <a:solidFill>
                  <a:srgbClr val="000000"/>
                </a:solidFill>
                <a:latin typeface="Calibri"/>
                <a:ea typeface="Calibri"/>
                <a:cs typeface="Calibri"/>
              </a:defRPr>
            </a:lvl8pPr>
            <a:lvl9pPr algn="l">
              <a:defRPr sz="1800">
                <a:solidFill>
                  <a:srgbClr val="000000"/>
                </a:solidFill>
                <a:latin typeface="Calibri"/>
                <a:ea typeface="Calibri"/>
                <a:cs typeface="Calibri"/>
              </a:defRPr>
            </a:lvl9pPr>
          </a:lstStyle>
          <a:p xmlns:a="http://schemas.openxmlformats.org/drawingml/2006/main">
            <a:pPr algn="l">
              <a:spcAft>
                <a:spcPts val="400"/>
              </a:spcAft>
              <a:buNone/>
              <a:defRPr sz="1800">
                <a:solidFill>
                  <a:srgbClr val="000000"/>
                </a:solidFill>
                <a:latin typeface="Calibri"/>
                <a:ea typeface="Calibri"/>
                <a:cs typeface="Calibri"/>
              </a:defRPr>
            </a:pPr>
            <a:r>
              <a:rPr sz="1800">
                <a:solidFill>
                  <a:srgbClr val="000000"/>
                </a:solidFill>
                <a:latin typeface="Calibri"/>
                <a:ea typeface="Calibri"/>
                <a:cs typeface="Calibri"/>
              </a:rPr>
              <a:t>Lesson 6 analysis of the classroom TO-BE scenario</a:t>
            </a:r>
          </a:p>
          <a:p xmlns:a="http://schemas.openxmlformats.org/drawingml/2006/main">
            <a:pPr>
              <a:spcAft>
                <a:spcPts val="0"/>
              </a:spcAft>
              <a:buNone/>
            </a:pPr>
            <a:r>
              <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What if the destination is unclear? Ask Stevie to clarify the room and confirm it before calculating the route.</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What if Stevie misses the turn? Pause the old directions and confirm his current location before offering an updated route.</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What if THEIA loses his location? Say the location is uncertain, pause guidance, and offer the help option.</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What if no usable route is available? Explain that guidance cannot start and let Stevie request help or cancel.</a:t>
            </a:r>
          </a:p>
          <a:p xmlns:a="http://schemas.openxmlformats.org/drawingml/2006/main">
            <a:pPr marL="0" indent="0" algn="l">
              <a:spcAft>
                <a:spcPts val="800"/>
              </a:spcAft>
              <a:buNone/>
              <a:defRPr sz="1800">
                <a:solidFill>
                  <a:srgbClr val="000000"/>
                </a:solidFill>
                <a:latin typeface="Calibri"/>
                <a:ea typeface="Calibri"/>
                <a:cs typeface="Calibri"/>
              </a:defRPr>
            </a:pPr>
            <a:r>
              <a:rPr sz="1800">
                <a:solidFill>
                  <a:srgbClr val="000000"/>
                </a:solidFill>
                <a:latin typeface="Calibri"/>
                <a:ea typeface="Calibri"/>
                <a:cs typeface="Calibri"/>
              </a:rPr>
              <a:t>The analysis adds confirmation, route recovery, and clear failure responses to the basic classroom example.</a:t>
            </a:r>
          </a:p>
        </p:txBody>
      </p:sp>
      <p:sp>
        <p:nvSpPr>
          <p:cNvPr id="24" name="TextBox 23">
            <a:extLst xmlns:a="http://schemas.openxmlformats.org/drawingml/2006/main">
              <a:ext uri="{FF2B5EF4-FFF2-40B4-BE49-F238E27FC236}">
                <a16:creationId xmlns:a16="http://schemas.microsoft.com/office/drawing/2014/main" id="{79565452-6205-4DBF-A99E-F1562E6C39B8}"/>
              </a:ext>
            </a:extLst>
          </p:cNvPr>
          <p:cNvSpPr>
            <a:spLocks xmlns:a="http://schemas.openxmlformats.org/drawingml/2006/main" noGrp="1"/>
          </p:cNvSpPr>
          <p:nvPr/>
        </p:nvSpPr>
        <p:spPr>
          <a:xfrm xmlns:a="http://schemas.openxmlformats.org/drawingml/2006/main">
            <a:off x="528034" y="321972"/>
            <a:ext cx="10818253"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xmlns:a="http://schemas.openxmlformats.org/drawingml/2006/main">
            <a:pPr algn="l">
              <a:buNone/>
              <a:defRPr sz="1800" b="1">
                <a:solidFill>
                  <a:srgbClr val="000000"/>
                </a:solidFill>
                <a:latin typeface="Calibri"/>
                <a:ea typeface="Calibri"/>
                <a:cs typeface="Calibri"/>
              </a:defRPr>
            </a:pPr>
            <a:r>
              <a:rPr sz="1800" b="1">
                <a:solidFill>
                  <a:srgbClr val="000000"/>
                </a:solidFill>
                <a:latin typeface="Calibri"/>
                <a:ea typeface="Calibri"/>
                <a:cs typeface="Calibri"/>
              </a:rPr>
              <a:t>Classroom guidance: What-if analysis</a:t>
            </a:r>
          </a:p>
        </p:txBody>
      </p:sp>
    </p:spTree>
    <p:extLst>
      <p:ext uri="{BB962C8B-B14F-4D97-AF65-F5344CB8AC3E}">
        <p14:creationId xmlns:p14="http://schemas.microsoft.com/office/powerpoint/2010/main" val="358244126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Slide title">
            <a:extLst xmlns:a="http://schemas.openxmlformats.org/drawingml/2006/main">
              <a:ext uri="{FF2B5EF4-FFF2-40B4-BE49-F238E27FC236}">
                <a16:creationId xmlns:a16="http://schemas.microsoft.com/office/drawing/2014/main" id="{52EBA2B6-FA3D-4366-942B-DCDD319538E4}"/>
              </a:ext>
            </a:extLst>
          </p:cNvPr>
          <p:cNvSpPr>
            <a:spLocks xmlns:a="http://schemas.openxmlformats.org/drawingml/2006/main" noGrp="1"/>
          </p:cNvSpPr>
          <p:nvPr/>
        </p:nvSpPr>
        <p:spPr>
          <a:xfrm xmlns:a="http://schemas.openxmlformats.org/drawingml/2006/main">
            <a:off x="528066" y="321945"/>
            <a:ext cx="10818209"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000000"/>
                </a:solidFill>
              </a:defRPr>
            </a:defPPr>
            <a:lvl1pPr algn="l">
              <a:defRPr sz="1800" b="1">
                <a:solidFill>
                  <a:srgbClr val="000000"/>
                </a:solidFill>
              </a:defRPr>
            </a:lvl1pPr>
            <a:lvl2pPr algn="l">
              <a:defRPr sz="1800" b="1">
                <a:solidFill>
                  <a:srgbClr val="000000"/>
                </a:solidFill>
              </a:defRPr>
            </a:lvl2pPr>
            <a:lvl3pPr algn="l">
              <a:defRPr sz="1800" b="1">
                <a:solidFill>
                  <a:srgbClr val="000000"/>
                </a:solidFill>
              </a:defRPr>
            </a:lvl3pPr>
            <a:lvl4pPr algn="l">
              <a:defRPr sz="1800" b="1">
                <a:solidFill>
                  <a:srgbClr val="000000"/>
                </a:solidFill>
              </a:defRPr>
            </a:lvl4pPr>
            <a:lvl5pPr algn="l">
              <a:defRPr sz="1800" b="1">
                <a:solidFill>
                  <a:srgbClr val="000000"/>
                </a:solidFill>
              </a:defRPr>
            </a:lvl5pPr>
            <a:lvl6pPr algn="l">
              <a:defRPr sz="1800" b="1">
                <a:solidFill>
                  <a:srgbClr val="000000"/>
                </a:solidFill>
              </a:defRPr>
            </a:lvl6pPr>
            <a:lvl7pPr algn="l">
              <a:defRPr sz="1800" b="1">
                <a:solidFill>
                  <a:srgbClr val="000000"/>
                </a:solidFill>
              </a:defRPr>
            </a:lvl7pPr>
            <a:lvl8pPr algn="l">
              <a:defRPr sz="1800" b="1">
                <a:solidFill>
                  <a:srgbClr val="000000"/>
                </a:solidFill>
              </a:defRPr>
            </a:lvl8pPr>
            <a:lvl9pPr algn="l">
              <a:defRPr sz="1800" b="1">
                <a:solidFill>
                  <a:srgbClr val="000000"/>
                </a:solidFill>
              </a:defRPr>
            </a:lvl9pPr>
          </a:lstStyle>
          <a:p xmlns:a="http://schemas.openxmlformats.org/drawingml/2006/main">
            <a:pPr algn="l">
              <a:defRPr sz="1800" b="1">
                <a:solidFill>
                  <a:srgbClr val="000000"/>
                </a:solidFill>
              </a:defRPr>
            </a:pPr>
            <a:r>
              <a:rPr sz="1800" b="1">
                <a:solidFill>
                  <a:srgbClr val="000000"/>
                </a:solidFill>
              </a:rPr>
              <a:t>Mock-up and user manual</a:t>
            </a:r>
          </a:p>
        </p:txBody>
      </p:sp>
      <p:sp>
        <p:nvSpPr>
          <p:cNvPr id="2" name="Slide body">
            <a:extLst xmlns:a="http://schemas.openxmlformats.org/drawingml/2006/main">
              <a:ext uri="{FF2B5EF4-FFF2-40B4-BE49-F238E27FC236}">
                <a16:creationId xmlns:a16="http://schemas.microsoft.com/office/drawing/2014/main" id="{2EA17711-A3AD-499D-81AD-FDB36C123F08}"/>
              </a:ext>
            </a:extLst>
          </p:cNvPr>
          <p:cNvSpPr>
            <a:spLocks xmlns:a="http://schemas.openxmlformats.org/drawingml/2006/main" noGrp="1"/>
          </p:cNvSpPr>
          <p:nvPr/>
        </p:nvSpPr>
        <p:spPr>
          <a:xfrm xmlns:a="http://schemas.openxmlformats.org/drawingml/2006/main">
            <a:off x="557784" y="877824"/>
            <a:ext cx="10572750" cy="49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00000"/>
                </a:solidFill>
              </a:defRPr>
            </a:defPPr>
            <a:lvl1pPr algn="l">
              <a:defRPr sz="1800" b="0">
                <a:solidFill>
                  <a:srgbClr val="000000"/>
                </a:solidFill>
              </a:defRPr>
            </a:lvl1pPr>
            <a:lvl2pPr algn="l">
              <a:defRPr sz="1800" b="0">
                <a:solidFill>
                  <a:srgbClr val="000000"/>
                </a:solidFill>
              </a:defRPr>
            </a:lvl2pPr>
            <a:lvl3pPr algn="l">
              <a:defRPr sz="1800" b="0">
                <a:solidFill>
                  <a:srgbClr val="000000"/>
                </a:solidFill>
              </a:defRPr>
            </a:lvl3pPr>
            <a:lvl4pPr algn="l">
              <a:defRPr sz="1800" b="0">
                <a:solidFill>
                  <a:srgbClr val="000000"/>
                </a:solidFill>
              </a:defRPr>
            </a:lvl4pPr>
            <a:lvl5pPr algn="l">
              <a:defRPr sz="1800" b="0">
                <a:solidFill>
                  <a:srgbClr val="000000"/>
                </a:solidFill>
              </a:defRPr>
            </a:lvl5pPr>
            <a:lvl6pPr algn="l">
              <a:defRPr sz="1800" b="0">
                <a:solidFill>
                  <a:srgbClr val="000000"/>
                </a:solidFill>
              </a:defRPr>
            </a:lvl6pPr>
            <a:lvl7pPr algn="l">
              <a:defRPr sz="1800" b="0">
                <a:solidFill>
                  <a:srgbClr val="000000"/>
                </a:solidFill>
              </a:defRPr>
            </a:lvl7pPr>
            <a:lvl8pPr algn="l">
              <a:defRPr sz="1800" b="0">
                <a:solidFill>
                  <a:srgbClr val="000000"/>
                </a:solidFill>
              </a:defRPr>
            </a:lvl8pPr>
            <a:lvl9pPr algn="l">
              <a:defRPr sz="1800" b="0">
                <a:solidFill>
                  <a:srgbClr val="000000"/>
                </a:solidFill>
              </a:defRPr>
            </a:lvl9pPr>
          </a:lstStyle>
          <a:p xmlns:a="http://schemas.openxmlformats.org/drawingml/2006/main">
            <a:pPr algn="l">
              <a:defRPr sz="1800" b="0">
                <a:solidFill>
                  <a:srgbClr val="000000"/>
                </a:solidFill>
              </a:defRPr>
            </a:pPr>
            <a:r>
              <a:rPr sz="1800" b="0">
                <a:solidFill>
                  <a:srgbClr val="000000"/>
                </a:solidFill>
              </a:rPr>
              <a:t>David Acosta Leon</a:t>
            </a:r>
          </a:p>
          <a:p xmlns:a="http://schemas.openxmlformats.org/drawingml/2006/main">
            <a:r>
              <a:t/>
            </a:r>
          </a:p>
          <a:p xmlns:a="http://schemas.openxmlformats.org/drawingml/2006/main">
            <a:pPr algn="l">
              <a:defRPr sz="1800" b="0">
                <a:solidFill>
                  <a:srgbClr val="000000"/>
                </a:solidFill>
              </a:defRPr>
            </a:pPr>
            <a:r>
              <a:rPr sz="1800" b="0">
                <a:solidFill>
                  <a:srgbClr val="000000"/>
                </a:solidFill>
              </a:rPr>
              <a:t>The manual follows the same four examples as Jay's slides.</a:t>
            </a:r>
          </a:p>
          <a:p xmlns:a="http://schemas.openxmlformats.org/drawingml/2006/main">
            <a:r>
              <a:t/>
            </a:r>
          </a:p>
          <a:p xmlns:a="http://schemas.openxmlformats.org/drawingml/2006/main">
            <a:pPr algn="l">
              <a:defRPr sz="1800" b="0">
                <a:solidFill>
                  <a:srgbClr val="000000"/>
                </a:solidFill>
              </a:defRPr>
            </a:pPr>
            <a:r>
              <a:rPr sz="1800" b="0">
                <a:solidFill>
                  <a:srgbClr val="000000"/>
                </a:solidFill>
              </a:rPr>
              <a:t>Each example shows the prompt, the user's choice and what happens next.</a:t>
            </a:r>
          </a:p>
          <a:p xmlns:a="http://schemas.openxmlformats.org/drawingml/2006/main">
            <a:r>
              <a:t/>
            </a:r>
          </a:p>
          <a:p xmlns:a="http://schemas.openxmlformats.org/drawingml/2006/main">
            <a:pPr algn="l">
              <a:defRPr sz="1800" b="0">
                <a:solidFill>
                  <a:srgbClr val="000000"/>
                </a:solidFill>
              </a:defRPr>
            </a:pPr>
            <a:r>
              <a:rPr sz="1800" b="0">
                <a:solidFill>
                  <a:srgbClr val="000000"/>
                </a:solidFill>
              </a:rPr>
              <a:t>Stevie confirms where he starts and which classroom he needs.</a:t>
            </a:r>
          </a:p>
          <a:p xmlns:a="http://schemas.openxmlformats.org/drawingml/2006/main">
            <a:r>
              <a:t/>
            </a:r>
          </a:p>
          <a:p xmlns:a="http://schemas.openxmlformats.org/drawingml/2006/main">
            <a:pPr algn="l">
              <a:defRPr sz="1800" b="0">
                <a:solidFill>
                  <a:srgbClr val="000000"/>
                </a:solidFill>
              </a:defRPr>
            </a:pPr>
            <a:r>
              <a:rPr sz="1800" b="0">
                <a:solidFill>
                  <a:srgbClr val="000000"/>
                </a:solidFill>
              </a:rPr>
              <a:t>The help example shows confirmation, waiting for an answer, a connection and a failed request.</a:t>
            </a:r>
          </a:p>
          <a:p xmlns:a="http://schemas.openxmlformats.org/drawingml/2006/main">
            <a:r>
              <a:t/>
            </a:r>
          </a:p>
          <a:p xmlns:a="http://schemas.openxmlformats.org/drawingml/2006/main">
            <a:pPr algn="l">
              <a:defRPr sz="1800" b="0">
                <a:solidFill>
                  <a:srgbClr val="000000"/>
                </a:solidFill>
              </a:defRPr>
            </a:pPr>
            <a:r>
              <a:rPr sz="1800" b="0">
                <a:solidFill>
                  <a:srgbClr val="000000"/>
                </a:solidFill>
              </a:rPr>
              <a:t>For settings, the user checks a preview before saving.</a:t>
            </a:r>
          </a:p>
        </p:txBody>
      </p:sp>
    </p:spTree>
    <p:extLst>
      <p:ext uri="{BB962C8B-B14F-4D97-AF65-F5344CB8AC3E}">
        <p14:creationId xmlns:p14="http://schemas.microsoft.com/office/powerpoint/2010/main" val="194401178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Slide title">
            <a:extLst xmlns:a="http://schemas.openxmlformats.org/drawingml/2006/main">
              <a:ext uri="{FF2B5EF4-FFF2-40B4-BE49-F238E27FC236}">
                <a16:creationId xmlns:a16="http://schemas.microsoft.com/office/drawing/2014/main" id="{5B1EF16F-A453-44B2-8717-6B5D6F05A7FC}"/>
              </a:ext>
            </a:extLst>
          </p:cNvPr>
          <p:cNvSpPr>
            <a:spLocks xmlns:a="http://schemas.openxmlformats.org/drawingml/2006/main" noGrp="1"/>
          </p:cNvSpPr>
          <p:nvPr/>
        </p:nvSpPr>
        <p:spPr>
          <a:xfrm xmlns:a="http://schemas.openxmlformats.org/drawingml/2006/main">
            <a:off x="528066" y="321945"/>
            <a:ext cx="10818209"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000000"/>
                </a:solidFill>
              </a:defRPr>
            </a:defPPr>
            <a:lvl1pPr algn="l">
              <a:defRPr sz="1800" b="1">
                <a:solidFill>
                  <a:srgbClr val="000000"/>
                </a:solidFill>
              </a:defRPr>
            </a:lvl1pPr>
            <a:lvl2pPr algn="l">
              <a:defRPr sz="1800" b="1">
                <a:solidFill>
                  <a:srgbClr val="000000"/>
                </a:solidFill>
              </a:defRPr>
            </a:lvl2pPr>
            <a:lvl3pPr algn="l">
              <a:defRPr sz="1800" b="1">
                <a:solidFill>
                  <a:srgbClr val="000000"/>
                </a:solidFill>
              </a:defRPr>
            </a:lvl3pPr>
            <a:lvl4pPr algn="l">
              <a:defRPr sz="1800" b="1">
                <a:solidFill>
                  <a:srgbClr val="000000"/>
                </a:solidFill>
              </a:defRPr>
            </a:lvl4pPr>
            <a:lvl5pPr algn="l">
              <a:defRPr sz="1800" b="1">
                <a:solidFill>
                  <a:srgbClr val="000000"/>
                </a:solidFill>
              </a:defRPr>
            </a:lvl5pPr>
            <a:lvl6pPr algn="l">
              <a:defRPr sz="1800" b="1">
                <a:solidFill>
                  <a:srgbClr val="000000"/>
                </a:solidFill>
              </a:defRPr>
            </a:lvl6pPr>
            <a:lvl7pPr algn="l">
              <a:defRPr sz="1800" b="1">
                <a:solidFill>
                  <a:srgbClr val="000000"/>
                </a:solidFill>
              </a:defRPr>
            </a:lvl7pPr>
            <a:lvl8pPr algn="l">
              <a:defRPr sz="1800" b="1">
                <a:solidFill>
                  <a:srgbClr val="000000"/>
                </a:solidFill>
              </a:defRPr>
            </a:lvl8pPr>
            <a:lvl9pPr algn="l">
              <a:defRPr sz="1800" b="1">
                <a:solidFill>
                  <a:srgbClr val="000000"/>
                </a:solidFill>
              </a:defRPr>
            </a:lvl9pPr>
          </a:lstStyle>
          <a:p xmlns:a="http://schemas.openxmlformats.org/drawingml/2006/main">
            <a:pPr algn="l">
              <a:defRPr sz="1800" b="1">
                <a:solidFill>
                  <a:srgbClr val="000000"/>
                </a:solidFill>
              </a:defRPr>
            </a:pPr>
            <a:r>
              <a:rPr sz="1800" b="1">
                <a:solidFill>
                  <a:srgbClr val="000000"/>
                </a:solidFill>
              </a:rPr>
              <a:t>Demonstration scope</a:t>
            </a:r>
          </a:p>
        </p:txBody>
      </p:sp>
      <p:sp>
        <p:nvSpPr>
          <p:cNvPr id="2" name="Slide body">
            <a:extLst xmlns:a="http://schemas.openxmlformats.org/drawingml/2006/main">
              <a:ext uri="{FF2B5EF4-FFF2-40B4-BE49-F238E27FC236}">
                <a16:creationId xmlns:a16="http://schemas.microsoft.com/office/drawing/2014/main" id="{7439EBEA-42FC-49D6-BF6A-E7E5C43073C7}"/>
              </a:ext>
            </a:extLst>
          </p:cNvPr>
          <p:cNvSpPr>
            <a:spLocks xmlns:a="http://schemas.openxmlformats.org/drawingml/2006/main" noGrp="1"/>
          </p:cNvSpPr>
          <p:nvPr/>
        </p:nvSpPr>
        <p:spPr>
          <a:xfrm xmlns:a="http://schemas.openxmlformats.org/drawingml/2006/main">
            <a:off x="557784" y="877824"/>
            <a:ext cx="10572750" cy="495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00000"/>
                </a:solidFill>
              </a:defRPr>
            </a:defPPr>
            <a:lvl1pPr algn="l">
              <a:defRPr sz="1800" b="0">
                <a:solidFill>
                  <a:srgbClr val="000000"/>
                </a:solidFill>
              </a:defRPr>
            </a:lvl1pPr>
            <a:lvl2pPr algn="l">
              <a:defRPr sz="1800" b="0">
                <a:solidFill>
                  <a:srgbClr val="000000"/>
                </a:solidFill>
              </a:defRPr>
            </a:lvl2pPr>
            <a:lvl3pPr algn="l">
              <a:defRPr sz="1800" b="0">
                <a:solidFill>
                  <a:srgbClr val="000000"/>
                </a:solidFill>
              </a:defRPr>
            </a:lvl3pPr>
            <a:lvl4pPr algn="l">
              <a:defRPr sz="1800" b="0">
                <a:solidFill>
                  <a:srgbClr val="000000"/>
                </a:solidFill>
              </a:defRPr>
            </a:lvl4pPr>
            <a:lvl5pPr algn="l">
              <a:defRPr sz="1800" b="0">
                <a:solidFill>
                  <a:srgbClr val="000000"/>
                </a:solidFill>
              </a:defRPr>
            </a:lvl5pPr>
            <a:lvl6pPr algn="l">
              <a:defRPr sz="1800" b="0">
                <a:solidFill>
                  <a:srgbClr val="000000"/>
                </a:solidFill>
              </a:defRPr>
            </a:lvl6pPr>
            <a:lvl7pPr algn="l">
              <a:defRPr sz="1800" b="0">
                <a:solidFill>
                  <a:srgbClr val="000000"/>
                </a:solidFill>
              </a:defRPr>
            </a:lvl7pPr>
            <a:lvl8pPr algn="l">
              <a:defRPr sz="1800" b="0">
                <a:solidFill>
                  <a:srgbClr val="000000"/>
                </a:solidFill>
              </a:defRPr>
            </a:lvl8pPr>
            <a:lvl9pPr algn="l">
              <a:defRPr sz="1800" b="0">
                <a:solidFill>
                  <a:srgbClr val="000000"/>
                </a:solidFill>
              </a:defRPr>
            </a:lvl9pPr>
          </a:lstStyle>
          <a:p xmlns:a="http://schemas.openxmlformats.org/drawingml/2006/main">
            <a:pPr algn="l">
              <a:defRPr sz="1800" b="0">
                <a:solidFill>
                  <a:srgbClr val="000000"/>
                </a:solidFill>
              </a:defRPr>
            </a:pPr>
            <a:r>
              <a:rPr sz="1800" b="0">
                <a:solidFill>
                  <a:srgbClr val="000000"/>
                </a:solidFill>
              </a:rPr>
              <a:t>The mock-up shows example steps and results as text.</a:t>
            </a:r>
          </a:p>
          <a:p xmlns:a="http://schemas.openxmlformats.org/drawingml/2006/main">
            <a:r>
              <a:t/>
            </a:r>
          </a:p>
          <a:p xmlns:a="http://schemas.openxmlformats.org/drawingml/2006/main">
            <a:pPr algn="l">
              <a:defRPr sz="1800" b="0">
                <a:solidFill>
                  <a:srgbClr val="000000"/>
                </a:solidFill>
              </a:defRPr>
            </a:pPr>
            <a:r>
              <a:rPr sz="1800" b="0">
                <a:solidFill>
                  <a:srgbClr val="000000"/>
                </a:solidFill>
              </a:rPr>
              <a:t>Locations, routes, blockages and contacts are examples.</a:t>
            </a:r>
          </a:p>
          <a:p xmlns:a="http://schemas.openxmlformats.org/drawingml/2006/main">
            <a:r>
              <a:t/>
            </a:r>
          </a:p>
          <a:p xmlns:a="http://schemas.openxmlformats.org/drawingml/2006/main">
            <a:pPr algn="l">
              <a:defRPr sz="1800" b="0">
                <a:solidFill>
                  <a:srgbClr val="000000"/>
                </a:solidFill>
              </a:defRPr>
            </a:pPr>
            <a:r>
              <a:rPr sz="1800" b="0">
                <a:solidFill>
                  <a:srgbClr val="000000"/>
                </a:solidFill>
              </a:rPr>
              <a:t>It does not track location, detect obstacles or contact anyone.</a:t>
            </a:r>
          </a:p>
          <a:p xmlns:a="http://schemas.openxmlformats.org/drawingml/2006/main">
            <a:r>
              <a:t/>
            </a:r>
          </a:p>
          <a:p xmlns:a="http://schemas.openxmlformats.org/drawingml/2006/main">
            <a:pPr algn="l">
              <a:defRPr sz="1800" b="0">
                <a:solidFill>
                  <a:srgbClr val="000000"/>
                </a:solidFill>
              </a:defRPr>
            </a:pPr>
            <a:r>
              <a:rPr sz="1800" b="0">
                <a:solidFill>
                  <a:srgbClr val="000000"/>
                </a:solidFill>
              </a:rPr>
              <a:t>Audio and vibration are not implemented.</a:t>
            </a:r>
          </a:p>
          <a:p xmlns:a="http://schemas.openxmlformats.org/drawingml/2006/main">
            <a:r>
              <a:t/>
            </a:r>
          </a:p>
          <a:p xmlns:a="http://schemas.openxmlformats.org/drawingml/2006/main">
            <a:pPr algn="l">
              <a:defRPr sz="1800" b="0">
                <a:solidFill>
                  <a:srgbClr val="000000"/>
                </a:solidFill>
              </a:defRPr>
            </a:pPr>
            <a:r>
              <a:rPr sz="1800" b="0">
                <a:solidFill>
                  <a:srgbClr val="000000"/>
                </a:solidFill>
              </a:rPr>
              <a:t>The team still needs to check the examples against the final WRS.</a:t>
            </a:r>
          </a:p>
          <a:p xmlns:a="http://schemas.openxmlformats.org/drawingml/2006/main">
            <a:r>
              <a:t/>
            </a:r>
          </a:p>
          <a:p xmlns:a="http://schemas.openxmlformats.org/drawingml/2006/main">
            <a:pPr algn="l">
              <a:defRPr sz="1800" b="0">
                <a:solidFill>
                  <a:srgbClr val="000000"/>
                </a:solidFill>
              </a:defRPr>
            </a:pPr>
            <a:r>
              <a:rPr sz="1800" b="0">
                <a:solidFill>
                  <a:srgbClr val="000000"/>
                </a:solidFill>
              </a:rPr>
              <a:t>Real navigation and usability with BVI users have not been tested in this work.</a:t>
            </a:r>
          </a:p>
        </p:txBody>
      </p:sp>
    </p:spTree>
    <p:extLst>
      <p:ext uri="{BB962C8B-B14F-4D97-AF65-F5344CB8AC3E}">
        <p14:creationId xmlns:p14="http://schemas.microsoft.com/office/powerpoint/2010/main" val="147547348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2026-10-18T02:09:13.3510000Z</dcterms:created>
  <dcterms:modified xsi:type="dcterms:W3CDTF">2026-10-18T02:09:13.3510000Z</dcterms:modified>
</coreProperties>
</file>