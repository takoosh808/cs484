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Ubuntu Bros, and this is THEIA. Jaydon prepared the scenarios and priority analysis. I made the mock-up and manual. We will go through the four examples, then show the mock-up.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Stevie knows the general route, but he does not know when to turn. That is the main problem in this example. Source: supplied Theia-AS-IS_and_TO-BE_v2.0 classroom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Stevie confirms where he starts and which classroom he needs. Then he can begin. The ten steps and left turn come from the course example. They are not measured by this mock-up. Repeat plays the same instruction, and stop ends guidance. Source: course scenario template and Jaydon handoff.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a cart blocks a route the student already knows. Remembering the building does not tell them that something has 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THEIA warns the student and pauses guidance. It explains another route and waits for the student to accept it. We assume blockage information is available. This mock-up does not detect a real cart.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there is no usable route, or the student declines it, guidance stays paused. The student can ask for help or stop.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visitor is lost and cannot give a reliable current location. Requesting help does not solve that location problem by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visitor checks the contact and confirms the request. Waiting for an answer and being connected are different results. Our mock-up shows those results as text. It does not call anyone.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confirmation, cancel means no request is sent. Once the request has started, cancel cannot undo contact that already happened. Guidance stays paused while the location is uncertain.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caretaker can help with settings, but the user still needs to check and approve the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 checks the current settings, chooses louder prompts and fewer repeats, then previews the change. Save applies it. Cancel before saving keeps the old settings. The mock-up shows the prompts as 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Fewer repeats means fewer repeated prompts. It does not remove turns or warnings. The caretaker helps, and the user approves.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 chose classroom guidance as the top priority because Stevie uses it often and could get hurt if he misses the turn. The analysis covers Who, What kinds of, When and How. Source: CptS484-Lesson6-pt3.Scenarios.pdf and Jaydon handoff.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four problems need different responses: an unclear destination, a missed turn, an uncertain location and no usable route. We still need to match the examples to the final team WRS. Source: Lesson 6 and Jaydon handoff.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THEIA_Mockup.html beside the slides. Show the classroom example, then briefly show help and settings. The buttons move through example steps. Allow 90 seconds. Source: David mock-up and manual, 17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Phase I mock-up. We still need the team WRS to finish checking it. Real navigation, audio, vibration and calls are outside this demo. Source: Project Specification I v2.0 section III.3, THEIA Preliminary Definition v1.0, and David mock-up.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1E147-C8A0-4BC6-976C-8EAA43EDA55C}"/>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1BBF3227-9478-4C52-AA73-6319424D28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73A9542B-8975-4A12-AD77-67429A3C3BD4}"/>
              </a:ext>
            </a:extLst>
          </p:cNvPr>
          <p:cNvSpPr>
            <a:spLocks noGrp="1"/>
          </p:cNvSpPr>
          <p:nvPr>
            <p:ph type="dt" idx="10"/>
          </p:nvPr>
        </p:nvSpPr>
        <p:spPr/>
        <p:txBody>
          <a:bodyPr/>
          <a:lstStyle/>
          <a:p>
            <a:fld id="{B19FC151-C95F-4B97-8B73-E5BFB448A7CA}" type="datetimeFigureOut">
              <a:t>10/20/2026</a:t>
            </a:fld>
            <a:endParaRPr/>
          </a:p>
        </p:txBody>
      </p:sp>
      <p:sp>
        <p:nvSpPr>
          <p:cNvPr id="5" name="Footer Placeholder 4">
            <a:extLst>
              <a:ext uri="{FF2B5EF4-FFF2-40B4-BE49-F238E27FC236}">
                <a16:creationId xmlns:a16="http://schemas.microsoft.com/office/drawing/2014/main" id="{028D904B-4391-43CD-A7AA-3824F2C1096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DBFDD9A-8941-4511-8C61-6673FC0690A9}"/>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C906D-56D6-4B8F-87C5-B0EE1CE574C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D5CF03C-1CAC-4554-97C3-DF7AD8C3CEA7}"/>
              </a:ext>
            </a:extLst>
          </p:cNvPr>
          <p:cNvSpPr>
            <a:spLocks noGrp="1"/>
          </p:cNvSpPr>
          <p:nvPr>
            <p:ph idx="1"/>
          </p:nvPr>
        </p:nvSpPr>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910C7BB-5EDD-41DD-831D-12E53C1D6534}"/>
              </a:ext>
            </a:extLst>
          </p:cNvPr>
          <p:cNvSpPr>
            <a:spLocks noGrp="1"/>
          </p:cNvSpPr>
          <p:nvPr>
            <p:ph type="dt" idx="10"/>
          </p:nvPr>
        </p:nvSpPr>
        <p:spPr/>
        <p:txBody>
          <a:bodyPr/>
          <a:lstStyle/>
          <a:p>
            <a:fld id="{B19FC151-C95F-4B97-8B73-E5BFB448A7CA}" type="datetimeFigureOut">
              <a:t>10/20/2026</a:t>
            </a:fld>
            <a:endParaRPr/>
          </a:p>
        </p:txBody>
      </p:sp>
      <p:sp>
        <p:nvSpPr>
          <p:cNvPr id="5" name="Footer Placeholder 4">
            <a:extLst>
              <a:ext uri="{FF2B5EF4-FFF2-40B4-BE49-F238E27FC236}">
                <a16:creationId xmlns:a16="http://schemas.microsoft.com/office/drawing/2014/main" id="{39B0C739-34B4-49D4-8F87-43555C336A1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E890C07-C203-46D1-A9A9-2A278959715A}"/>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F9BD-F333-480E-8CBF-2576F003CA9E}"/>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597D85C8-A58E-4D0C-96E1-49F452E929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Edit Master text styles</a:t>
            </a:r>
          </a:p>
        </p:txBody>
      </p:sp>
      <p:sp>
        <p:nvSpPr>
          <p:cNvPr id="4" name="Date Placeholder 3">
            <a:extLst>
              <a:ext uri="{FF2B5EF4-FFF2-40B4-BE49-F238E27FC236}">
                <a16:creationId xmlns:a16="http://schemas.microsoft.com/office/drawing/2014/main" id="{ED1F543B-5C9D-4309-B49A-568CE1883714}"/>
              </a:ext>
            </a:extLst>
          </p:cNvPr>
          <p:cNvSpPr>
            <a:spLocks noGrp="1"/>
          </p:cNvSpPr>
          <p:nvPr>
            <p:ph type="dt" idx="10"/>
          </p:nvPr>
        </p:nvSpPr>
        <p:spPr/>
        <p:txBody>
          <a:bodyPr/>
          <a:lstStyle/>
          <a:p>
            <a:fld id="{B19FC151-C95F-4B97-8B73-E5BFB448A7CA}" type="datetimeFigureOut">
              <a:t>10/20/2026</a:t>
            </a:fld>
            <a:endParaRPr/>
          </a:p>
        </p:txBody>
      </p:sp>
      <p:sp>
        <p:nvSpPr>
          <p:cNvPr id="5" name="Footer Placeholder 4">
            <a:extLst>
              <a:ext uri="{FF2B5EF4-FFF2-40B4-BE49-F238E27FC236}">
                <a16:creationId xmlns:a16="http://schemas.microsoft.com/office/drawing/2014/main" id="{E74CE2B0-E7A4-457D-BEAA-2BE86224E58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F2587F0-5F44-42E4-958A-D61C983530FD}"/>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C1B2E-0F83-4B3F-8736-1782CF15F76C}"/>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94DC77F3-7F52-4699-98BC-F5CDD835E4D5}"/>
              </a:ext>
            </a:extLst>
          </p:cNvPr>
          <p:cNvSpPr>
            <a:spLocks noGrp="1"/>
          </p:cNvSpPr>
          <p:nvPr>
            <p:ph idx="1"/>
          </p:nvPr>
        </p:nvSpPr>
        <p:spPr>
          <a:xfrm>
            <a:off x="838200" y="1825625"/>
            <a:ext cx="5181600" cy="4351338"/>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FE70FF8E-CB09-41A9-BA43-70B505DB96A6}"/>
              </a:ext>
            </a:extLst>
          </p:cNvPr>
          <p:cNvSpPr>
            <a:spLocks noGrp="1"/>
          </p:cNvSpPr>
          <p:nvPr>
            <p:ph idx="2"/>
          </p:nvPr>
        </p:nvSpPr>
        <p:spPr>
          <a:xfrm>
            <a:off x="6172200" y="1825625"/>
            <a:ext cx="5181600" cy="4351338"/>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5C8000E-3AAB-4E34-85A2-22F28B8A45F6}"/>
              </a:ext>
            </a:extLst>
          </p:cNvPr>
          <p:cNvSpPr>
            <a:spLocks noGrp="1"/>
          </p:cNvSpPr>
          <p:nvPr>
            <p:ph type="dt" idx="10"/>
          </p:nvPr>
        </p:nvSpPr>
        <p:spPr/>
        <p:txBody>
          <a:bodyPr/>
          <a:lstStyle/>
          <a:p>
            <a:fld id="{B19FC151-C95F-4B97-8B73-E5BFB448A7CA}" type="datetimeFigureOut">
              <a:t>10/20/2026</a:t>
            </a:fld>
            <a:endParaRPr/>
          </a:p>
        </p:txBody>
      </p:sp>
      <p:sp>
        <p:nvSpPr>
          <p:cNvPr id="6" name="Footer Placeholder 5">
            <a:extLst>
              <a:ext uri="{FF2B5EF4-FFF2-40B4-BE49-F238E27FC236}">
                <a16:creationId xmlns:a16="http://schemas.microsoft.com/office/drawing/2014/main" id="{A239A5A7-F8BC-4CE7-9AFB-B7F24E9DD44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62D875C-2EED-412F-835A-8D9AD47858B5}"/>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418B9-F5FD-430F-A486-D0A4EF4A93D0}"/>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D09A873D-46AB-489F-93A5-703A9428A3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Edit Master text styles</a:t>
            </a:r>
          </a:p>
        </p:txBody>
      </p:sp>
      <p:sp>
        <p:nvSpPr>
          <p:cNvPr id="4" name="Content Placeholder 3">
            <a:extLst>
              <a:ext uri="{FF2B5EF4-FFF2-40B4-BE49-F238E27FC236}">
                <a16:creationId xmlns:a16="http://schemas.microsoft.com/office/drawing/2014/main" id="{84F73EAB-7738-4218-8320-BAF5B88ED751}"/>
              </a:ext>
            </a:extLst>
          </p:cNvPr>
          <p:cNvSpPr>
            <a:spLocks noGrp="1"/>
          </p:cNvSpPr>
          <p:nvPr>
            <p:ph idx="2"/>
          </p:nvPr>
        </p:nvSpPr>
        <p:spPr>
          <a:xfrm>
            <a:off x="839788" y="2505075"/>
            <a:ext cx="5157787" cy="3684588"/>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7DB9B05-5412-4BA5-9B92-556AC2BA2493}"/>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Edit Master text styles</a:t>
            </a:r>
          </a:p>
        </p:txBody>
      </p:sp>
      <p:sp>
        <p:nvSpPr>
          <p:cNvPr id="6" name="Content Placeholder 5">
            <a:extLst>
              <a:ext uri="{FF2B5EF4-FFF2-40B4-BE49-F238E27FC236}">
                <a16:creationId xmlns:a16="http://schemas.microsoft.com/office/drawing/2014/main" id="{AF9F8B3F-FDF1-466F-A684-6668B08C212F}"/>
              </a:ext>
            </a:extLst>
          </p:cNvPr>
          <p:cNvSpPr>
            <a:spLocks noGrp="1"/>
          </p:cNvSpPr>
          <p:nvPr>
            <p:ph idx="4"/>
          </p:nvPr>
        </p:nvSpPr>
        <p:spPr>
          <a:xfrm>
            <a:off x="6172200" y="2505075"/>
            <a:ext cx="5183188" cy="3684588"/>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2D7F1379-FEB2-4232-A97B-4A9854F81CE9}"/>
              </a:ext>
            </a:extLst>
          </p:cNvPr>
          <p:cNvSpPr>
            <a:spLocks noGrp="1"/>
          </p:cNvSpPr>
          <p:nvPr>
            <p:ph type="dt" idx="10"/>
          </p:nvPr>
        </p:nvSpPr>
        <p:spPr/>
        <p:txBody>
          <a:bodyPr/>
          <a:lstStyle/>
          <a:p>
            <a:fld id="{B19FC151-C95F-4B97-8B73-E5BFB448A7CA}" type="datetimeFigureOut">
              <a:t>10/20/2026</a:t>
            </a:fld>
            <a:endParaRPr/>
          </a:p>
        </p:txBody>
      </p:sp>
      <p:sp>
        <p:nvSpPr>
          <p:cNvPr id="8" name="Footer Placeholder 7">
            <a:extLst>
              <a:ext uri="{FF2B5EF4-FFF2-40B4-BE49-F238E27FC236}">
                <a16:creationId xmlns:a16="http://schemas.microsoft.com/office/drawing/2014/main" id="{6883ADD5-6DE6-4F90-9F48-23CF2FDEDFB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955D40F2-AC8A-4686-915A-3A4598825217}"/>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7AAF-1469-414A-8493-0CA826FFC25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68D0EDA4-27B8-49D9-9CDC-EC94D6DD62DE}"/>
              </a:ext>
            </a:extLst>
          </p:cNvPr>
          <p:cNvSpPr>
            <a:spLocks noGrp="1"/>
          </p:cNvSpPr>
          <p:nvPr>
            <p:ph type="dt" idx="10"/>
          </p:nvPr>
        </p:nvSpPr>
        <p:spPr/>
        <p:txBody>
          <a:bodyPr/>
          <a:lstStyle/>
          <a:p>
            <a:fld id="{B19FC151-C95F-4B97-8B73-E5BFB448A7CA}" type="datetimeFigureOut">
              <a:t>10/20/2026</a:t>
            </a:fld>
            <a:endParaRPr/>
          </a:p>
        </p:txBody>
      </p:sp>
      <p:sp>
        <p:nvSpPr>
          <p:cNvPr id="4" name="Footer Placeholder 3">
            <a:extLst>
              <a:ext uri="{FF2B5EF4-FFF2-40B4-BE49-F238E27FC236}">
                <a16:creationId xmlns:a16="http://schemas.microsoft.com/office/drawing/2014/main" id="{043BB72E-178F-465C-BAC7-372CB6F8EB56}"/>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9FD2BE6B-1F95-4225-BB77-01B2BC22044B}"/>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E200F2-9C97-4485-97B8-43AF0DD70CDC}"/>
              </a:ext>
            </a:extLst>
          </p:cNvPr>
          <p:cNvSpPr>
            <a:spLocks noGrp="1"/>
          </p:cNvSpPr>
          <p:nvPr>
            <p:ph type="dt" idx="10"/>
          </p:nvPr>
        </p:nvSpPr>
        <p:spPr/>
        <p:txBody>
          <a:bodyPr/>
          <a:lstStyle/>
          <a:p>
            <a:fld id="{B19FC151-C95F-4B97-8B73-E5BFB448A7CA}" type="datetimeFigureOut">
              <a:t>10/20/2026</a:t>
            </a:fld>
            <a:endParaRPr/>
          </a:p>
        </p:txBody>
      </p:sp>
      <p:sp>
        <p:nvSpPr>
          <p:cNvPr id="3" name="Footer Placeholder 2">
            <a:extLst>
              <a:ext uri="{FF2B5EF4-FFF2-40B4-BE49-F238E27FC236}">
                <a16:creationId xmlns:a16="http://schemas.microsoft.com/office/drawing/2014/main" id="{FC314FCC-17D0-4070-87DE-01A740525D65}"/>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0375113-BE05-4973-B2F8-5D8DEC179D12}"/>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A1825-4DE0-4612-BBDD-192DEAA9175F}"/>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5B66D902-ED54-4D39-8D2E-25F1B530467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AFFE6202-835A-4D10-8696-5F9C93985EC7}"/>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Edit Master text styles</a:t>
            </a:r>
          </a:p>
        </p:txBody>
      </p:sp>
      <p:sp>
        <p:nvSpPr>
          <p:cNvPr id="5" name="Date Placeholder 4">
            <a:extLst>
              <a:ext uri="{FF2B5EF4-FFF2-40B4-BE49-F238E27FC236}">
                <a16:creationId xmlns:a16="http://schemas.microsoft.com/office/drawing/2014/main" id="{BE2197CC-931A-42AB-86EB-33B7388062E0}"/>
              </a:ext>
            </a:extLst>
          </p:cNvPr>
          <p:cNvSpPr>
            <a:spLocks noGrp="1"/>
          </p:cNvSpPr>
          <p:nvPr>
            <p:ph type="dt" idx="10"/>
          </p:nvPr>
        </p:nvSpPr>
        <p:spPr/>
        <p:txBody>
          <a:bodyPr/>
          <a:lstStyle/>
          <a:p>
            <a:fld id="{B19FC151-C95F-4B97-8B73-E5BFB448A7CA}" type="datetimeFigureOut">
              <a:t>10/20/2026</a:t>
            </a:fld>
            <a:endParaRPr/>
          </a:p>
        </p:txBody>
      </p:sp>
      <p:sp>
        <p:nvSpPr>
          <p:cNvPr id="6" name="Footer Placeholder 5">
            <a:extLst>
              <a:ext uri="{FF2B5EF4-FFF2-40B4-BE49-F238E27FC236}">
                <a16:creationId xmlns:a16="http://schemas.microsoft.com/office/drawing/2014/main" id="{C9E62F2B-A80B-466F-ADA7-487AA65D4C9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0F3C4D0-1C4A-48F9-92DD-F530E7183606}"/>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3BAD3-7D59-44A6-A4A3-D1BA8F249D7E}"/>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11F77753-3940-4A5F-B934-46E478EE29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1EFBCA91-3E11-4F2F-977B-92EE8E593B0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Edit Master text styles</a:t>
            </a:r>
          </a:p>
        </p:txBody>
      </p:sp>
      <p:sp>
        <p:nvSpPr>
          <p:cNvPr id="5" name="Date Placeholder 4">
            <a:extLst>
              <a:ext uri="{FF2B5EF4-FFF2-40B4-BE49-F238E27FC236}">
                <a16:creationId xmlns:a16="http://schemas.microsoft.com/office/drawing/2014/main" id="{C245E498-0231-44B8-8715-5D426B7EA026}"/>
              </a:ext>
            </a:extLst>
          </p:cNvPr>
          <p:cNvSpPr>
            <a:spLocks noGrp="1"/>
          </p:cNvSpPr>
          <p:nvPr>
            <p:ph type="dt" idx="10"/>
          </p:nvPr>
        </p:nvSpPr>
        <p:spPr/>
        <p:txBody>
          <a:bodyPr/>
          <a:lstStyle/>
          <a:p>
            <a:fld id="{B19FC151-C95F-4B97-8B73-E5BFB448A7CA}" type="datetimeFigureOut">
              <a:t>10/20/2026</a:t>
            </a:fld>
            <a:endParaRPr/>
          </a:p>
        </p:txBody>
      </p:sp>
      <p:sp>
        <p:nvSpPr>
          <p:cNvPr id="6" name="Footer Placeholder 5">
            <a:extLst>
              <a:ext uri="{FF2B5EF4-FFF2-40B4-BE49-F238E27FC236}">
                <a16:creationId xmlns:a16="http://schemas.microsoft.com/office/drawing/2014/main" id="{EE0B7981-F7C7-4422-96D1-0A4D53E5E7D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E33C5BF-2633-4B2F-8306-3C459740543B}"/>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AD2B-6A45-493C-ADEC-1D523816085C}"/>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3274B83-74CC-4244-8433-B802CC661C62}"/>
              </a:ext>
            </a:extLst>
          </p:cNvPr>
          <p:cNvSpPr>
            <a:spLocks noGrp="1"/>
          </p:cNvSpPr>
          <p:nvPr>
            <p:ph type="body" idx="1"/>
          </p:nvPr>
        </p:nvSpPr>
        <p:spPr/>
        <p:txBody>
          <a:bodyPr vert="eaVert"/>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0FDAA2F-BC68-4BC4-9935-F2FBD7229757}"/>
              </a:ext>
            </a:extLst>
          </p:cNvPr>
          <p:cNvSpPr>
            <a:spLocks noGrp="1"/>
          </p:cNvSpPr>
          <p:nvPr>
            <p:ph type="dt" idx="10"/>
          </p:nvPr>
        </p:nvSpPr>
        <p:spPr/>
        <p:txBody>
          <a:bodyPr/>
          <a:lstStyle/>
          <a:p>
            <a:fld id="{B19FC151-C95F-4B97-8B73-E5BFB448A7CA}" type="datetimeFigureOut">
              <a:t>10/20/2026</a:t>
            </a:fld>
            <a:endParaRPr/>
          </a:p>
        </p:txBody>
      </p:sp>
      <p:sp>
        <p:nvSpPr>
          <p:cNvPr id="5" name="Footer Placeholder 4">
            <a:extLst>
              <a:ext uri="{FF2B5EF4-FFF2-40B4-BE49-F238E27FC236}">
                <a16:creationId xmlns:a16="http://schemas.microsoft.com/office/drawing/2014/main" id="{B8D9C779-E871-4A96-8FCC-DDC9AC83F7A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2632DCE-5E52-42CB-B97F-27362C548122}"/>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1553D9-22F0-49A8-98CD-81B98818FBBE}"/>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39CBA776-CFB8-4F0F-8F19-D1832E2793C8}"/>
              </a:ext>
            </a:extLst>
          </p:cNvPr>
          <p:cNvSpPr>
            <a:spLocks noGrp="1"/>
          </p:cNvSpPr>
          <p:nvPr>
            <p:ph type="body" idx="1"/>
          </p:nvPr>
        </p:nvSpPr>
        <p:spPr>
          <a:xfrm>
            <a:off x="838200" y="365125"/>
            <a:ext cx="7734300" cy="5811838"/>
          </a:xfrm>
        </p:spPr>
        <p:txBody>
          <a:bodyPr vert="eaVert"/>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BD45A7A-289F-4728-8B9C-915564DC8F79}"/>
              </a:ext>
            </a:extLst>
          </p:cNvPr>
          <p:cNvSpPr>
            <a:spLocks noGrp="1"/>
          </p:cNvSpPr>
          <p:nvPr>
            <p:ph type="dt" idx="10"/>
          </p:nvPr>
        </p:nvSpPr>
        <p:spPr/>
        <p:txBody>
          <a:bodyPr/>
          <a:lstStyle/>
          <a:p>
            <a:fld id="{B19FC151-C95F-4B97-8B73-E5BFB448A7CA}" type="datetimeFigureOut">
              <a:t>10/20/2026</a:t>
            </a:fld>
            <a:endParaRPr/>
          </a:p>
        </p:txBody>
      </p:sp>
      <p:sp>
        <p:nvSpPr>
          <p:cNvPr id="5" name="Footer Placeholder 4">
            <a:extLst>
              <a:ext uri="{FF2B5EF4-FFF2-40B4-BE49-F238E27FC236}">
                <a16:creationId xmlns:a16="http://schemas.microsoft.com/office/drawing/2014/main" id="{CA86D427-E821-44AE-9199-68D2B686C4F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D724E30-9118-4896-8D27-4648AE7A0FCE}"/>
              </a:ext>
            </a:extLst>
          </p:cNvPr>
          <p:cNvSpPr>
            <a:spLocks noGrp="1"/>
          </p:cNvSpPr>
          <p:nvPr>
            <p:ph type="sldNum" idx="12"/>
          </p:nvPr>
        </p:nvSpPr>
        <p:spPr/>
        <p:txBody>
          <a:bodyPr/>
          <a:lstStyle/>
          <a:p>
            <a:fld id="{45C664BD-2E9A-452D-8DCB-A5C1F6FA5F2C}"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BD2AB3-0AA5-46A1-A17E-CC3249007A6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8D9E5A1A-920F-49DA-803B-E908B462E0C6}"/>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09B3C4B-E9B9-464E-B854-C9736BD7B7E6}"/>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19FC151-C95F-4B97-8B73-E5BFB448A7CA}" type="datetimeFigureOut">
              <a:t>10/20/2026</a:t>
            </a:fld>
            <a:endParaRPr/>
          </a:p>
        </p:txBody>
      </p:sp>
      <p:sp>
        <p:nvSpPr>
          <p:cNvPr id="5" name="Footer Placeholder 4">
            <a:extLst>
              <a:ext uri="{FF2B5EF4-FFF2-40B4-BE49-F238E27FC236}">
                <a16:creationId xmlns:a16="http://schemas.microsoft.com/office/drawing/2014/main" id="{D90264A9-6D41-4537-A210-0F87B1525028}"/>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1A9A312F-6625-4CD9-82BE-98585C3951F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45C664BD-2E9A-452D-8DCB-A5C1F6FA5F2C}"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68C6E-964B-AF50-E729-29A15AB79843}"/>
              </a:ext>
            </a:extLst>
          </p:cNvPr>
          <p:cNvSpPr>
            <a:spLocks noGrp="1"/>
          </p:cNvSpPr>
          <p:nvPr>
            <p:ph type="ctrTitle"/>
          </p:nvPr>
        </p:nvSpPr>
        <p:spPr/>
        <p:txBody>
          <a:bodyPr/>
          <a:lstStyle>
            <a:defPPr algn="ctr">
              <a:defRPr sz="4800">
                <a:solidFill>
                  <a:srgbClr val="000000"/>
                </a:solidFill>
                <a:latin typeface="Calibri Light"/>
                <a:ea typeface="Calibri Light"/>
                <a:cs typeface="Calibri Light"/>
              </a:defRPr>
            </a:defPPr>
            <a:lvl1pPr algn="ctr">
              <a:defRPr sz="4800">
                <a:solidFill>
                  <a:srgbClr val="000000"/>
                </a:solidFill>
                <a:latin typeface="Calibri Light"/>
                <a:ea typeface="Calibri Light"/>
                <a:cs typeface="Calibri Light"/>
              </a:defRPr>
            </a:lvl1pPr>
            <a:lvl2pPr algn="ctr">
              <a:defRPr sz="4800">
                <a:solidFill>
                  <a:srgbClr val="000000"/>
                </a:solidFill>
                <a:latin typeface="Calibri Light"/>
                <a:ea typeface="Calibri Light"/>
                <a:cs typeface="Calibri Light"/>
              </a:defRPr>
            </a:lvl2pPr>
            <a:lvl3pPr algn="ctr">
              <a:defRPr sz="4800">
                <a:solidFill>
                  <a:srgbClr val="000000"/>
                </a:solidFill>
                <a:latin typeface="Calibri Light"/>
                <a:ea typeface="Calibri Light"/>
                <a:cs typeface="Calibri Light"/>
              </a:defRPr>
            </a:lvl3pPr>
            <a:lvl4pPr algn="ctr">
              <a:defRPr sz="4800">
                <a:solidFill>
                  <a:srgbClr val="000000"/>
                </a:solidFill>
                <a:latin typeface="Calibri Light"/>
                <a:ea typeface="Calibri Light"/>
                <a:cs typeface="Calibri Light"/>
              </a:defRPr>
            </a:lvl4pPr>
            <a:lvl5pPr algn="ctr">
              <a:defRPr sz="4800">
                <a:solidFill>
                  <a:srgbClr val="000000"/>
                </a:solidFill>
                <a:latin typeface="Calibri Light"/>
                <a:ea typeface="Calibri Light"/>
                <a:cs typeface="Calibri Light"/>
              </a:defRPr>
            </a:lvl5pPr>
            <a:lvl6pPr algn="ctr">
              <a:defRPr sz="4800">
                <a:solidFill>
                  <a:srgbClr val="000000"/>
                </a:solidFill>
                <a:latin typeface="Calibri Light"/>
                <a:ea typeface="Calibri Light"/>
                <a:cs typeface="Calibri Light"/>
              </a:defRPr>
            </a:lvl6pPr>
            <a:lvl7pPr algn="ctr">
              <a:defRPr sz="4800">
                <a:solidFill>
                  <a:srgbClr val="000000"/>
                </a:solidFill>
                <a:latin typeface="Calibri Light"/>
                <a:ea typeface="Calibri Light"/>
                <a:cs typeface="Calibri Light"/>
              </a:defRPr>
            </a:lvl7pPr>
            <a:lvl8pPr algn="ctr">
              <a:defRPr sz="4800">
                <a:solidFill>
                  <a:srgbClr val="000000"/>
                </a:solidFill>
                <a:latin typeface="Calibri Light"/>
                <a:ea typeface="Calibri Light"/>
                <a:cs typeface="Calibri Light"/>
              </a:defRPr>
            </a:lvl8pPr>
            <a:lvl9pPr algn="ctr">
              <a:defRPr sz="4800">
                <a:solidFill>
                  <a:srgbClr val="000000"/>
                </a:solidFill>
                <a:latin typeface="Calibri Light"/>
                <a:ea typeface="Calibri Light"/>
                <a:cs typeface="Calibri Light"/>
              </a:defRPr>
            </a:lvl9pPr>
          </a:lstStyle>
          <a:p>
            <a:pPr algn="ctr">
              <a:buNone/>
              <a:defRPr sz="4800">
                <a:solidFill>
                  <a:srgbClr val="000000"/>
                </a:solidFill>
                <a:latin typeface="Calibri Light"/>
                <a:ea typeface="Calibri Light"/>
                <a:cs typeface="Calibri Light"/>
              </a:defRPr>
            </a:pPr>
            <a:r>
              <a:rPr sz="4800">
                <a:solidFill>
                  <a:srgbClr val="000000"/>
                </a:solidFill>
                <a:latin typeface="Calibri Light"/>
                <a:ea typeface="Calibri Light"/>
                <a:cs typeface="Calibri Light"/>
              </a:rPr>
              <a:t>THEIA</a:t>
            </a:r>
          </a:p>
          <a:p>
            <a:pPr algn="ctr">
              <a:buNone/>
              <a:defRPr sz="4800">
                <a:solidFill>
                  <a:srgbClr val="000000"/>
                </a:solidFill>
                <a:latin typeface="Calibri Light"/>
                <a:ea typeface="Calibri Light"/>
                <a:cs typeface="Calibri Light"/>
              </a:defRPr>
            </a:pPr>
            <a:r>
              <a:rPr sz="4800">
                <a:solidFill>
                  <a:srgbClr val="000000"/>
                </a:solidFill>
                <a:latin typeface="Calibri Light"/>
                <a:ea typeface="Calibri Light"/>
                <a:cs typeface="Calibri Light"/>
              </a:rPr>
              <a:t>Phase I scenarios</a:t>
            </a:r>
          </a:p>
        </p:txBody>
      </p:sp>
      <p:sp>
        <p:nvSpPr>
          <p:cNvPr id="3" name="Subtitle 2">
            <a:extLst>
              <a:ext uri="{FF2B5EF4-FFF2-40B4-BE49-F238E27FC236}">
                <a16:creationId xmlns:a16="http://schemas.microsoft.com/office/drawing/2014/main" id="{91440C3C-9794-6B3D-429E-D85A27E7DE08}"/>
              </a:ext>
            </a:extLst>
          </p:cNvPr>
          <p:cNvSpPr>
            <a:spLocks noGrp="1"/>
          </p:cNvSpPr>
          <p:nvPr>
            <p:ph type="subTitle" idx="1"/>
          </p:nvPr>
        </p:nvSpPr>
        <p:spPr/>
        <p:txBody>
          <a:bodyPr>
            <a:normAutofit lnSpcReduction="10000"/>
          </a:bodyPr>
          <a:lstStyle>
            <a:defPPr algn="ctr">
              <a:defRPr sz="2400">
                <a:solidFill>
                  <a:srgbClr val="000000"/>
                </a:solidFill>
                <a:latin typeface="Calibri"/>
                <a:ea typeface="Calibri"/>
                <a:cs typeface="Calibri"/>
              </a:defRPr>
            </a:defPPr>
            <a:lvl1pPr algn="ctr">
              <a:defRPr sz="2400">
                <a:solidFill>
                  <a:srgbClr val="000000"/>
                </a:solidFill>
                <a:latin typeface="Calibri"/>
                <a:ea typeface="Calibri"/>
                <a:cs typeface="Calibri"/>
              </a:defRPr>
            </a:lvl1pPr>
            <a:lvl2pPr algn="ctr">
              <a:defRPr sz="2400">
                <a:solidFill>
                  <a:srgbClr val="000000"/>
                </a:solidFill>
                <a:latin typeface="Calibri"/>
                <a:ea typeface="Calibri"/>
                <a:cs typeface="Calibri"/>
              </a:defRPr>
            </a:lvl2pPr>
            <a:lvl3pPr algn="ctr">
              <a:defRPr sz="2400">
                <a:solidFill>
                  <a:srgbClr val="000000"/>
                </a:solidFill>
                <a:latin typeface="Calibri"/>
                <a:ea typeface="Calibri"/>
                <a:cs typeface="Calibri"/>
              </a:defRPr>
            </a:lvl3pPr>
            <a:lvl4pPr algn="ctr">
              <a:defRPr sz="2400">
                <a:solidFill>
                  <a:srgbClr val="000000"/>
                </a:solidFill>
                <a:latin typeface="Calibri"/>
                <a:ea typeface="Calibri"/>
                <a:cs typeface="Calibri"/>
              </a:defRPr>
            </a:lvl4pPr>
            <a:lvl5pPr algn="ctr">
              <a:defRPr sz="2400">
                <a:solidFill>
                  <a:srgbClr val="000000"/>
                </a:solidFill>
                <a:latin typeface="Calibri"/>
                <a:ea typeface="Calibri"/>
                <a:cs typeface="Calibri"/>
              </a:defRPr>
            </a:lvl5pPr>
            <a:lvl6pPr algn="ctr">
              <a:defRPr sz="2400">
                <a:solidFill>
                  <a:srgbClr val="000000"/>
                </a:solidFill>
                <a:latin typeface="Calibri"/>
                <a:ea typeface="Calibri"/>
                <a:cs typeface="Calibri"/>
              </a:defRPr>
            </a:lvl6pPr>
            <a:lvl7pPr algn="ctr">
              <a:defRPr sz="2400">
                <a:solidFill>
                  <a:srgbClr val="000000"/>
                </a:solidFill>
                <a:latin typeface="Calibri"/>
                <a:ea typeface="Calibri"/>
                <a:cs typeface="Calibri"/>
              </a:defRPr>
            </a:lvl7pPr>
            <a:lvl8pPr algn="ctr">
              <a:defRPr sz="2400">
                <a:solidFill>
                  <a:srgbClr val="000000"/>
                </a:solidFill>
                <a:latin typeface="Calibri"/>
                <a:ea typeface="Calibri"/>
                <a:cs typeface="Calibri"/>
              </a:defRPr>
            </a:lvl8pPr>
            <a:lvl9pPr algn="ctr">
              <a:defRPr sz="2400">
                <a:solidFill>
                  <a:srgbClr val="000000"/>
                </a:solidFill>
                <a:latin typeface="Calibri"/>
                <a:ea typeface="Calibri"/>
                <a:cs typeface="Calibri"/>
              </a:defRPr>
            </a:lvl9pPr>
          </a:lstStyle>
          <a:p>
            <a:pPr algn="ctr">
              <a:buNone/>
              <a:defRPr sz="2400">
                <a:solidFill>
                  <a:srgbClr val="000000"/>
                </a:solidFill>
                <a:latin typeface="Calibri"/>
                <a:ea typeface="Calibri"/>
                <a:cs typeface="Calibri"/>
              </a:defRPr>
            </a:pPr>
            <a:r>
              <a:rPr sz="2400">
                <a:solidFill>
                  <a:srgbClr val="000000"/>
                </a:solidFill>
                <a:latin typeface="Calibri"/>
                <a:ea typeface="Calibri"/>
                <a:cs typeface="Calibri"/>
              </a:rPr>
              <a:t>Ubuntu Bros</a:t>
            </a:r>
            <a:endParaRPr/>
          </a:p>
          <a:p>
            <a:pPr algn="ctr">
              <a:buNone/>
              <a:defRPr sz="2400">
                <a:solidFill>
                  <a:srgbClr val="000000"/>
                </a:solidFill>
                <a:latin typeface="Calibri"/>
                <a:ea typeface="Calibri"/>
                <a:cs typeface="Calibri"/>
              </a:defRPr>
            </a:pPr>
            <a:r>
              <a:rPr sz="2400">
                <a:solidFill>
                  <a:srgbClr val="000000"/>
                </a:solidFill>
                <a:latin typeface="Calibri"/>
                <a:ea typeface="Calibri"/>
                <a:cs typeface="Calibri"/>
              </a:rPr>
              <a:t>CPT_S 484</a:t>
            </a:r>
            <a:endParaRPr/>
          </a:p>
          <a:p>
            <a:pPr algn="ctr">
              <a:buNone/>
              <a:defRPr sz="2400">
                <a:solidFill>
                  <a:srgbClr val="000000"/>
                </a:solidFill>
                <a:latin typeface="Calibri"/>
                <a:ea typeface="Calibri"/>
                <a:cs typeface="Calibri"/>
              </a:defRPr>
            </a:pPr>
            <a:r>
              <a:rPr sz="2400">
                <a:solidFill>
                  <a:srgbClr val="000000"/>
                </a:solidFill>
                <a:latin typeface="Calibri"/>
                <a:ea typeface="Calibri"/>
                <a:cs typeface="Calibri"/>
              </a:rPr>
              <a:t>Scenario slides and analysis: Jaydon Devictoria</a:t>
            </a:r>
            <a:endParaRPr/>
          </a:p>
          <a:p>
            <a:pPr algn="ctr">
              <a:buNone/>
              <a:defRPr sz="2400">
                <a:solidFill>
                  <a:srgbClr val="000000"/>
                </a:solidFill>
                <a:latin typeface="Calibri"/>
                <a:ea typeface="Calibri"/>
                <a:cs typeface="Calibri"/>
              </a:defRPr>
            </a:pPr>
            <a:r>
              <a:rPr sz="2400">
                <a:solidFill>
                  <a:srgbClr val="000000"/>
                </a:solidFill>
                <a:latin typeface="Calibri"/>
                <a:ea typeface="Calibri"/>
                <a:cs typeface="Calibri"/>
              </a:rPr>
              <a:t>Mock-up and manual: David Acosta Leon</a:t>
            </a:r>
          </a:p>
        </p:txBody>
      </p:sp>
    </p:spTree>
    <p:extLst>
      <p:ext uri="{BB962C8B-B14F-4D97-AF65-F5344CB8AC3E}">
        <p14:creationId xmlns:p14="http://schemas.microsoft.com/office/powerpoint/2010/main" val="3650860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Classroom trip: AS-IS</a:t>
            </a:r>
          </a:p>
        </p:txBody>
      </p:sp>
      <p:sp>
        <p:nvSpPr>
          <p:cNvPr id="6" name="TextBox 5">
            <a:extLst>
              <a:ext uri="{FF2B5EF4-FFF2-40B4-BE49-F238E27FC236}">
                <a16:creationId xmlns:a16="http://schemas.microsoft.com/office/drawing/2014/main" id="{0A02B431-4F72-4EB7-82AC-3322F54A5403}"/>
              </a:ext>
            </a:extLst>
          </p:cNvPr>
          <p:cNvSpPr>
            <a:spLocks noGrp="1"/>
          </p:cNvSpPr>
          <p:nvPr/>
        </p:nvSpPr>
        <p:spPr>
          <a:xfrm>
            <a:off x="557784" y="877824"/>
            <a:ext cx="10572750" cy="264160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Stevie, a visually impaired student</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Reach his next classroom</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Spoken route guidance</a:t>
            </a:r>
          </a:p>
          <a:p>
            <a:pPr>
              <a:spcAft>
                <a:spcPts val="0"/>
              </a:spcAft>
              <a:buNone/>
            </a:pPr>
            <a:endParaRPr sz="1800">
              <a:solidFill>
                <a:srgbClr val="000000"/>
              </a:solidFill>
              <a:latin typeface="Calibri"/>
              <a:ea typeface="Calibri"/>
              <a:cs typeface="Calibri"/>
            </a:endParaRP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Stevie is trying to go to his next classroom. He knows he needs to walk ahead a few steps, and then turn left around the corner.</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However, he is not sure when to turn.</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He took a guess, but turned too early, hit the wall and hurt his head.</a:t>
            </a:r>
          </a:p>
        </p:txBody>
      </p:sp>
    </p:spTree>
    <p:extLst>
      <p:ext uri="{BB962C8B-B14F-4D97-AF65-F5344CB8AC3E}">
        <p14:creationId xmlns:p14="http://schemas.microsoft.com/office/powerpoint/2010/main" val="3023492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FA11977-6C09-47A8-B4F1-FA7CF179A581}"/>
              </a:ext>
            </a:extLst>
          </p:cNvPr>
          <p:cNvSpPr>
            <a:spLocks noGrp="1"/>
          </p:cNvSpPr>
          <p:nvPr/>
        </p:nvSpPr>
        <p:spPr>
          <a:xfrm>
            <a:off x="557784" y="877824"/>
            <a:ext cx="10572750" cy="387096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Stevie, a visually impaired student</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Reach his next classroom</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Spoken route guidance</a:t>
            </a:r>
          </a:p>
          <a:p>
            <a:pPr>
              <a:spcAft>
                <a:spcPts val="0"/>
              </a:spcAft>
              <a:buNone/>
            </a:pPr>
            <a:endParaRPr sz="1800">
              <a:solidFill>
                <a:srgbClr val="000000"/>
              </a:solidFill>
              <a:latin typeface="Calibri"/>
              <a:ea typeface="Calibri"/>
              <a:cs typeface="Calibri"/>
            </a:endParaRP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1. Stevie opens THEIA. It asks for his current location and destination. He says his starting point and classroom.</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2. THEIA reads both back. Stevie confirms them or corrects a mistake before starting.</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3. THEIA calculates the route. Stevie confirms that he is ready to begin.</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4. THEIA says, "walk ahead 10 steps, then turn left". Stevie follows the instruction.</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5. Stevie can say "repeat" to hear the current instruction or "stop" to end guidance.</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6. THEIA gives the next instruction as he follows the route and announces arrival at the classroom.</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Expected result: Stevie reaches the intended classroom with guidance at each route decision.</a:t>
            </a:r>
          </a:p>
        </p:txBody>
      </p:sp>
      <p:sp>
        <p:nvSpPr>
          <p:cNvPr id="24" name="TextBox 23">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Classroom trip: TO-BE</a:t>
            </a:r>
          </a:p>
        </p:txBody>
      </p:sp>
    </p:spTree>
    <p:extLst>
      <p:ext uri="{BB962C8B-B14F-4D97-AF65-F5344CB8AC3E}">
        <p14:creationId xmlns:p14="http://schemas.microsoft.com/office/powerpoint/2010/main" val="3582441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Blocked hallway: AS-IS</a:t>
            </a:r>
          </a:p>
        </p:txBody>
      </p:sp>
      <p:sp>
        <p:nvSpPr>
          <p:cNvPr id="6" name="TextBox 5">
            <a:extLst>
              <a:ext uri="{FF2B5EF4-FFF2-40B4-BE49-F238E27FC236}">
                <a16:creationId xmlns:a16="http://schemas.microsoft.com/office/drawing/2014/main" id="{0A02B431-4F72-4EB7-82AC-3322F54A5403}"/>
              </a:ext>
            </a:extLst>
          </p:cNvPr>
          <p:cNvSpPr>
            <a:spLocks noGrp="1"/>
          </p:cNvSpPr>
          <p:nvPr/>
        </p:nvSpPr>
        <p:spPr>
          <a:xfrm>
            <a:off x="557784" y="877824"/>
            <a:ext cx="10572750" cy="274320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A visually impaired student on a familiar route</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Get past a blocked hallway and reach class</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Obstacle warning and route changes</a:t>
            </a:r>
          </a:p>
          <a:p>
            <a:pPr>
              <a:spcAft>
                <a:spcPts val="0"/>
              </a:spcAft>
              <a:buNone/>
            </a:pPr>
            <a:endParaRPr sz="1800">
              <a:solidFill>
                <a:srgbClr val="000000"/>
              </a:solidFill>
              <a:latin typeface="Calibri"/>
              <a:ea typeface="Calibri"/>
              <a:cs typeface="Calibri"/>
            </a:endParaRP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 student walks toward a classroom using a hallway they already know.</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A maintenance cart now blocks the hallway. Their remembered directions do not account for it.</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 student stops and asks someone whether there is another way around.</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Result: The trip is interrupted, and the student needs new information before continuing.</a:t>
            </a:r>
          </a:p>
        </p:txBody>
      </p:sp>
    </p:spTree>
    <p:extLst>
      <p:ext uri="{BB962C8B-B14F-4D97-AF65-F5344CB8AC3E}">
        <p14:creationId xmlns:p14="http://schemas.microsoft.com/office/powerpoint/2010/main" val="3023492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FA11977-6C09-47A8-B4F1-FA7CF179A581}"/>
              </a:ext>
            </a:extLst>
          </p:cNvPr>
          <p:cNvSpPr>
            <a:spLocks noGrp="1"/>
          </p:cNvSpPr>
          <p:nvPr/>
        </p:nvSpPr>
        <p:spPr>
          <a:xfrm>
            <a:off x="557784" y="877824"/>
            <a:ext cx="10572750" cy="349504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A visually impaired student on a familiar route</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Get past a blocked hallway and reach class</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Obstacle warning and route changes</a:t>
            </a:r>
          </a:p>
          <a:p>
            <a:pPr>
              <a:spcAft>
                <a:spcPts val="0"/>
              </a:spcAft>
              <a:buNone/>
            </a:pPr>
            <a:endParaRPr sz="1800">
              <a:solidFill>
                <a:srgbClr val="000000"/>
              </a:solidFill>
              <a:latin typeface="Calibri"/>
              <a:ea typeface="Calibri"/>
              <a:cs typeface="Calibri"/>
            </a:endParaRP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1. During guidance, THEIA receives information that the hallway ahead is blocked.</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2. THEIA says, "The hallway ahead is blocked. Stop here." The student stops.</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3. If a usable alternative is known, THEIA explains the route change and asks whether to use it.</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4. The student says "use that route". THEIA replaces the old directions and reads the first updated instruction.</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5. The student follows the new route, using "repeat" or "stop" if needed.</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Expected result: The student avoids the blocked section and receives directions toward the same classroom.</a:t>
            </a:r>
          </a:p>
        </p:txBody>
      </p:sp>
      <p:sp>
        <p:nvSpPr>
          <p:cNvPr id="24" name="TextBox 23">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Blocked hallway: TO-BE</a:t>
            </a:r>
          </a:p>
        </p:txBody>
      </p:sp>
    </p:spTree>
    <p:extLst>
      <p:ext uri="{BB962C8B-B14F-4D97-AF65-F5344CB8AC3E}">
        <p14:creationId xmlns:p14="http://schemas.microsoft.com/office/powerpoint/2010/main" val="3582441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FA11977-6C09-47A8-B4F1-FA7CF179A581}"/>
              </a:ext>
            </a:extLst>
          </p:cNvPr>
          <p:cNvSpPr>
            <a:spLocks noGrp="1"/>
          </p:cNvSpPr>
          <p:nvPr/>
        </p:nvSpPr>
        <p:spPr>
          <a:xfrm>
            <a:off x="557784" y="877824"/>
            <a:ext cx="10572750" cy="264160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The student from the blocked hallway scenario</a:t>
            </a:r>
          </a:p>
          <a:p>
            <a:pPr>
              <a:spcAft>
                <a:spcPts val="0"/>
              </a:spcAft>
              <a:buNone/>
            </a:pPr>
            <a:endParaRPr sz="1800">
              <a:solidFill>
                <a:srgbClr val="000000"/>
              </a:solidFill>
              <a:latin typeface="Calibri"/>
              <a:ea typeface="Calibri"/>
              <a:cs typeface="Calibri"/>
            </a:endParaRP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No alternative is known: THEIA says it cannot provide a route around the blockage. The student can request help or stop guidance.</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student declines the change: THEIA keeps guidance paused and asks whether they want help or to stop.</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warning was missed: The student can say "repeat" to hear the warning again before choosing what to do.</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Assumption for this example: The blockage is known before the student reaches it. The mock-up supplies that information.</a:t>
            </a:r>
          </a:p>
        </p:txBody>
      </p:sp>
      <p:sp>
        <p:nvSpPr>
          <p:cNvPr id="24" name="TextBox 23">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Blocked hallway: Possible problems</a:t>
            </a:r>
          </a:p>
        </p:txBody>
      </p:sp>
    </p:spTree>
    <p:extLst>
      <p:ext uri="{BB962C8B-B14F-4D97-AF65-F5344CB8AC3E}">
        <p14:creationId xmlns:p14="http://schemas.microsoft.com/office/powerpoint/2010/main" val="3582441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Lost visitor: AS-IS</a:t>
            </a:r>
          </a:p>
        </p:txBody>
      </p:sp>
      <p:sp>
        <p:nvSpPr>
          <p:cNvPr id="6" name="TextBox 5">
            <a:extLst>
              <a:ext uri="{FF2B5EF4-FFF2-40B4-BE49-F238E27FC236}">
                <a16:creationId xmlns:a16="http://schemas.microsoft.com/office/drawing/2014/main" id="{0A02B431-4F72-4EB7-82AC-3322F54A5403}"/>
              </a:ext>
            </a:extLst>
          </p:cNvPr>
          <p:cNvSpPr>
            <a:spLocks noGrp="1"/>
          </p:cNvSpPr>
          <p:nvPr/>
        </p:nvSpPr>
        <p:spPr>
          <a:xfrm>
            <a:off x="557784" y="877824"/>
            <a:ext cx="10572750" cy="274320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A visually impaired visitor in an unfamiliar building</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Reach someone who can help them get oriented</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Requesting help when location is unclear</a:t>
            </a:r>
          </a:p>
          <a:p>
            <a:pPr>
              <a:spcAft>
                <a:spcPts val="0"/>
              </a:spcAft>
              <a:buNone/>
            </a:pPr>
            <a:endParaRPr sz="1800">
              <a:solidFill>
                <a:srgbClr val="000000"/>
              </a:solidFill>
              <a:latin typeface="Calibri"/>
              <a:ea typeface="Calibri"/>
              <a:cs typeface="Calibri"/>
            </a:endParaRP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 visitor loses track of their location while trying to find a room.</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They stop, but cannot confidently describe the hallway they are in.</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They try to find someone nearby who can help them get oriented.</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Result: The visitor cannot continue the trip confidently and has no clear confirmation that help is coming.</a:t>
            </a:r>
          </a:p>
        </p:txBody>
      </p:sp>
    </p:spTree>
    <p:extLst>
      <p:ext uri="{BB962C8B-B14F-4D97-AF65-F5344CB8AC3E}">
        <p14:creationId xmlns:p14="http://schemas.microsoft.com/office/powerpoint/2010/main" val="3023492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FA11977-6C09-47A8-B4F1-FA7CF179A581}"/>
              </a:ext>
            </a:extLst>
          </p:cNvPr>
          <p:cNvSpPr>
            <a:spLocks noGrp="1"/>
          </p:cNvSpPr>
          <p:nvPr/>
        </p:nvSpPr>
        <p:spPr>
          <a:xfrm>
            <a:off x="557784" y="877824"/>
            <a:ext cx="10572750" cy="349504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A visually impaired visitor in an unfamiliar building</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Reach someone who can help them get oriented</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Requesting help when location is unclear</a:t>
            </a:r>
          </a:p>
          <a:p>
            <a:pPr>
              <a:spcAft>
                <a:spcPts val="0"/>
              </a:spcAft>
              <a:buNone/>
            </a:pPr>
            <a:endParaRPr sz="1800">
              <a:solidFill>
                <a:srgbClr val="000000"/>
              </a:solidFill>
              <a:latin typeface="Calibri"/>
              <a:ea typeface="Calibri"/>
              <a:cs typeface="Calibri"/>
            </a:endParaRP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1. THEIA says the current location is uncertain and pauses route guidance.</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2. The visitor says "help". THEIA reads the available support contacts.</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3. The visitor says a contact's name. THEIA reads the choice back and asks whether to request help.</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4. The visitor says "confirm". THEIA starts the request and says whether it is connecting or has connected.</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5. If the contact responds, the visitor speaks with them and explains any landmarks they can identify.</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Expected result: The visitor reaches a chosen support contact and understands whether the request connected.</a:t>
            </a:r>
          </a:p>
        </p:txBody>
      </p:sp>
      <p:sp>
        <p:nvSpPr>
          <p:cNvPr id="24" name="TextBox 23">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Lost visitor: TO-BE</a:t>
            </a:r>
          </a:p>
        </p:txBody>
      </p:sp>
    </p:spTree>
    <p:extLst>
      <p:ext uri="{BB962C8B-B14F-4D97-AF65-F5344CB8AC3E}">
        <p14:creationId xmlns:p14="http://schemas.microsoft.com/office/powerpoint/2010/main" val="3582441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FA11977-6C09-47A8-B4F1-FA7CF179A581}"/>
              </a:ext>
            </a:extLst>
          </p:cNvPr>
          <p:cNvSpPr>
            <a:spLocks noGrp="1"/>
          </p:cNvSpPr>
          <p:nvPr/>
        </p:nvSpPr>
        <p:spPr>
          <a:xfrm>
            <a:off x="557784" y="877824"/>
            <a:ext cx="10572750" cy="264160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The visitor from the help request scenario</a:t>
            </a:r>
          </a:p>
          <a:p>
            <a:pPr>
              <a:spcAft>
                <a:spcPts val="0"/>
              </a:spcAft>
              <a:buNone/>
            </a:pPr>
            <a:endParaRPr sz="1800">
              <a:solidFill>
                <a:srgbClr val="000000"/>
              </a:solidFill>
              <a:latin typeface="Calibri"/>
              <a:ea typeface="Calibri"/>
              <a:cs typeface="Calibri"/>
            </a:endParaRP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wrong contact was selected: The visitor corrects the choice before confirming the request.</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visitor cancels before confirming: THEIA does not contact anyone and keeps route guidance paused.</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contact cannot be reached: THEIA says the request did not connect and offers another contact or cancellation.</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Location is still uncertain: THEIA says so. A request does not mean someone has responded or knows where the visitor is.</a:t>
            </a:r>
          </a:p>
        </p:txBody>
      </p:sp>
      <p:sp>
        <p:nvSpPr>
          <p:cNvPr id="24" name="TextBox 23">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Lost visitor: Possible problems</a:t>
            </a:r>
          </a:p>
        </p:txBody>
      </p:sp>
    </p:spTree>
    <p:extLst>
      <p:ext uri="{BB962C8B-B14F-4D97-AF65-F5344CB8AC3E}">
        <p14:creationId xmlns:p14="http://schemas.microsoft.com/office/powerpoint/2010/main" val="3582441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Guidance settings: AS-IS</a:t>
            </a:r>
          </a:p>
        </p:txBody>
      </p:sp>
      <p:sp>
        <p:nvSpPr>
          <p:cNvPr id="6" name="TextBox 5">
            <a:extLst>
              <a:ext uri="{FF2B5EF4-FFF2-40B4-BE49-F238E27FC236}">
                <a16:creationId xmlns:a16="http://schemas.microsoft.com/office/drawing/2014/main" id="{0A02B431-4F72-4EB7-82AC-3322F54A5403}"/>
              </a:ext>
            </a:extLst>
          </p:cNvPr>
          <p:cNvSpPr>
            <a:spLocks noGrp="1"/>
          </p:cNvSpPr>
          <p:nvPr/>
        </p:nvSpPr>
        <p:spPr>
          <a:xfrm>
            <a:off x="557784" y="877824"/>
            <a:ext cx="10572750" cy="274320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Users: A visually impaired user and their caretaker</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Make spoken guidance easier to hear and follow</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Spoken guidance settings</a:t>
            </a:r>
          </a:p>
          <a:p>
            <a:pPr>
              <a:spcAft>
                <a:spcPts val="0"/>
              </a:spcAft>
              <a:buNone/>
            </a:pPr>
            <a:endParaRPr sz="1800">
              <a:solidFill>
                <a:srgbClr val="000000"/>
              </a:solidFill>
              <a:latin typeface="Calibri"/>
              <a:ea typeface="Calibri"/>
              <a:cs typeface="Calibri"/>
            </a:endParaRP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 user finds the spoken directions too quiet and hears repeated instructions more often than they need.</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They ask their caretaker to help adjust the settings.</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 user has trouble checking visual controls and cannot easily tell whether the changes are right.</a:t>
            </a:r>
          </a:p>
          <a:p>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Result: The caretaker can help make changes, but the user cannot easily check or approve the result.</a:t>
            </a:r>
          </a:p>
        </p:txBody>
      </p:sp>
    </p:spTree>
    <p:extLst>
      <p:ext uri="{BB962C8B-B14F-4D97-AF65-F5344CB8AC3E}">
        <p14:creationId xmlns:p14="http://schemas.microsoft.com/office/powerpoint/2010/main" val="3023492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FA11977-6C09-47A8-B4F1-FA7CF179A581}"/>
              </a:ext>
            </a:extLst>
          </p:cNvPr>
          <p:cNvSpPr>
            <a:spLocks noGrp="1"/>
          </p:cNvSpPr>
          <p:nvPr/>
        </p:nvSpPr>
        <p:spPr>
          <a:xfrm>
            <a:off x="557784" y="877824"/>
            <a:ext cx="10572750" cy="349504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Users: A visually impaired user and their caretaker</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Make spoken guidance easier to hear and follow</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Spoken guidance settings</a:t>
            </a:r>
          </a:p>
          <a:p>
            <a:pPr>
              <a:spcAft>
                <a:spcPts val="0"/>
              </a:spcAft>
              <a:buNone/>
            </a:pPr>
            <a:endParaRPr sz="1800">
              <a:solidFill>
                <a:srgbClr val="000000"/>
              </a:solidFill>
              <a:latin typeface="Calibri"/>
              <a:ea typeface="Calibri"/>
              <a:cs typeface="Calibri"/>
            </a:endParaRP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1. The user says "settings". THEIA reads the current volume and instruction frequency.</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2. THEIA reads the choices. The user says "louder" and "fewer repeats" to select the changes.</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3. THEIA reads back the proposed changes and plays a sample instruction.</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4. The user listens, then changes the choices again or says "save" to confirm them.</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5. THEIA says the settings were saved. Saying "cancel" before saving keeps the previous settings.</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Expected result: The user can hear and approve the guidance settings, with caretaker help if needed.</a:t>
            </a:r>
          </a:p>
        </p:txBody>
      </p:sp>
      <p:sp>
        <p:nvSpPr>
          <p:cNvPr id="24" name="TextBox 23">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Guidance settings: TO-BE</a:t>
            </a:r>
          </a:p>
        </p:txBody>
      </p:sp>
    </p:spTree>
    <p:extLst>
      <p:ext uri="{BB962C8B-B14F-4D97-AF65-F5344CB8AC3E}">
        <p14:creationId xmlns:p14="http://schemas.microsoft.com/office/powerpoint/2010/main" val="3582441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FA11977-6C09-47A8-B4F1-FA7CF179A581}"/>
              </a:ext>
            </a:extLst>
          </p:cNvPr>
          <p:cNvSpPr>
            <a:spLocks noGrp="1"/>
          </p:cNvSpPr>
          <p:nvPr/>
        </p:nvSpPr>
        <p:spPr>
          <a:xfrm>
            <a:off x="557784" y="877824"/>
            <a:ext cx="10572750" cy="236728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Users: The user and caretaker from the settings scenario</a:t>
            </a:r>
          </a:p>
          <a:p>
            <a:pPr>
              <a:spcAft>
                <a:spcPts val="0"/>
              </a:spcAft>
              <a:buNone/>
            </a:pPr>
            <a:endParaRPr sz="1800">
              <a:solidFill>
                <a:srgbClr val="000000"/>
              </a:solidFill>
              <a:latin typeface="Calibri"/>
              <a:ea typeface="Calibri"/>
              <a:cs typeface="Calibri"/>
            </a:endParaRP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choice is not understood: THEIA asks the user to repeat it and keeps the previous settings.</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sample is still too quiet: The user chooses a louder setting and previews it again before saving.</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user cancels: THEIA discards the proposed changes and confirms that the previous settings remain.</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Fewer repeats must still include necessary turn instructions and hazard warnings. The setting changes repetition, not essential guidance.</a:t>
            </a:r>
          </a:p>
        </p:txBody>
      </p:sp>
      <p:sp>
        <p:nvSpPr>
          <p:cNvPr id="24" name="TextBox 23">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Guidance settings: Possible problems</a:t>
            </a:r>
          </a:p>
        </p:txBody>
      </p:sp>
    </p:spTree>
    <p:extLst>
      <p:ext uri="{BB962C8B-B14F-4D97-AF65-F5344CB8AC3E}">
        <p14:creationId xmlns:p14="http://schemas.microsoft.com/office/powerpoint/2010/main" val="3582441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FA11977-6C09-47A8-B4F1-FA7CF179A581}"/>
              </a:ext>
            </a:extLst>
          </p:cNvPr>
          <p:cNvSpPr>
            <a:spLocks noGrp="1"/>
          </p:cNvSpPr>
          <p:nvPr/>
        </p:nvSpPr>
        <p:spPr>
          <a:xfrm>
            <a:off x="557784" y="877824"/>
            <a:ext cx="10572750" cy="269240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Priority: A repeated student trip with a risk of injury</a:t>
            </a:r>
          </a:p>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Lesson 6 analysis of the classroom TO-BE scenario</a:t>
            </a:r>
          </a:p>
          <a:p>
            <a:pPr>
              <a:spcAft>
                <a:spcPts val="0"/>
              </a:spcAft>
              <a:buNone/>
            </a:pPr>
            <a:endParaRPr sz="1800">
              <a:solidFill>
                <a:srgbClr val="000000"/>
              </a:solidFill>
              <a:latin typeface="Calibri"/>
              <a:ea typeface="Calibri"/>
              <a:cs typeface="Calibri"/>
            </a:endParaRP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Who starts guidance? Stevie gives and confirms his current location and classroom destination.</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What kinds of trips does this scenario cover? A classroom trip inside a building.</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When does guidance start? After Stevie confirms the route details. The turn cue needs to match the correct corner.</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How does Stevie control guidance? He says "repeat" to hear the current instruction or "stop" to end it.</a:t>
            </a:r>
          </a:p>
        </p:txBody>
      </p:sp>
      <p:sp>
        <p:nvSpPr>
          <p:cNvPr id="24" name="TextBox 23">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Top priority: Classroom guidance</a:t>
            </a:r>
          </a:p>
        </p:txBody>
      </p:sp>
    </p:spTree>
    <p:extLst>
      <p:ext uri="{BB962C8B-B14F-4D97-AF65-F5344CB8AC3E}">
        <p14:creationId xmlns:p14="http://schemas.microsoft.com/office/powerpoint/2010/main" val="3582441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FA11977-6C09-47A8-B4F1-FA7CF179A581}"/>
              </a:ext>
            </a:extLst>
          </p:cNvPr>
          <p:cNvSpPr>
            <a:spLocks noGrp="1"/>
          </p:cNvSpPr>
          <p:nvPr/>
        </p:nvSpPr>
        <p:spPr>
          <a:xfrm>
            <a:off x="557784" y="877824"/>
            <a:ext cx="10572750" cy="2743200"/>
          </a:xfrm>
          <a:prstGeom prst="rect">
            <a:avLst/>
          </a:prstGeom>
          <a:noFill/>
        </p:spPr>
        <p:txBody>
          <a:bodyPr wrap="square" lIns="57150" tIns="28575" rIns="57150" bIns="28575" anchor="t">
            <a:noAutofit/>
          </a:bodyPr>
          <a:lstStyle>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Lesson 6 analysis of the classroom TO-BE scenario</a:t>
            </a:r>
          </a:p>
          <a:p>
            <a:pPr>
              <a:spcAft>
                <a:spcPts val="0"/>
              </a:spcAft>
              <a:buNone/>
            </a:pPr>
            <a:endParaRPr sz="1800">
              <a:solidFill>
                <a:srgbClr val="000000"/>
              </a:solidFill>
              <a:latin typeface="Calibri"/>
              <a:ea typeface="Calibri"/>
              <a:cs typeface="Calibri"/>
            </a:endParaRP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What if the destination is unclear? Ask Stevie to clarify the room and confirm it before calculating the route.</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What if Stevie misses the turn? Pause the old directions and confirm his current location before offering an updated route.</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What if THEIA loses his location? Say the location is uncertain, pause guidance, and offer the help option.</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What if no usable route is available? Explain that guidance cannot start and let Stevie request help or cancel.</a:t>
            </a:r>
          </a:p>
          <a:p>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analysis adds confirmation, route recovery, and clear failure responses to the basic classroom example.</a:t>
            </a:r>
          </a:p>
        </p:txBody>
      </p:sp>
      <p:sp>
        <p:nvSpPr>
          <p:cNvPr id="24" name="TextBox 23">
            <a:extLst>
              <a:ext uri="{FF2B5EF4-FFF2-40B4-BE49-F238E27FC236}">
                <a16:creationId xmlns:a16="http://schemas.microsoft.com/office/drawing/2014/main" id="{79565452-6205-4DBF-A99E-F1562E6C39B8}"/>
              </a:ext>
            </a:extLst>
          </p:cNvPr>
          <p:cNvSpPr>
            <a:spLocks noGrp="1"/>
          </p:cNvSpPr>
          <p:nvPr/>
        </p:nvSpPr>
        <p:spPr>
          <a:xfrm>
            <a:off x="528034" y="321972"/>
            <a:ext cx="10818253" cy="365760"/>
          </a:xfrm>
          <a:prstGeom prst="rect">
            <a:avLst/>
          </a:prstGeom>
          <a:noFill/>
        </p:spPr>
        <p:txBody>
          <a:bodyPr wrap="square">
            <a:spAutoFit/>
          </a:bodyPr>
          <a:lstStyle>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Classroom guidance: What-if analysis</a:t>
            </a:r>
          </a:p>
        </p:txBody>
      </p:sp>
    </p:spTree>
    <p:extLst>
      <p:ext uri="{BB962C8B-B14F-4D97-AF65-F5344CB8AC3E}">
        <p14:creationId xmlns:p14="http://schemas.microsoft.com/office/powerpoint/2010/main" val="3582441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lide title">
            <a:extLst>
              <a:ext uri="{FF2B5EF4-FFF2-40B4-BE49-F238E27FC236}">
                <a16:creationId xmlns:a16="http://schemas.microsoft.com/office/drawing/2014/main" id="{52EBA2B6-FA3D-4366-942B-DCDD319538E4}"/>
              </a:ext>
            </a:extLst>
          </p:cNvPr>
          <p:cNvSpPr>
            <a:spLocks noGrp="1"/>
          </p:cNvSpPr>
          <p:nvPr/>
        </p:nvSpPr>
        <p:spPr>
          <a:xfrm>
            <a:off x="528066" y="321945"/>
            <a:ext cx="10818209" cy="365760"/>
          </a:xfrm>
          <a:prstGeom prst="rect">
            <a:avLst/>
          </a:prstGeom>
          <a:noFill/>
          <a:ln w="0">
            <a:noFill/>
          </a:ln>
        </p:spPr>
        <p:txBody>
          <a:bodyPr/>
          <a:lstStyle>
            <a:defPPr algn="l">
              <a:defRPr sz="1800" b="1">
                <a:solidFill>
                  <a:srgbClr val="000000"/>
                </a:solidFill>
              </a:defRPr>
            </a:defPPr>
            <a:lvl1pPr algn="l">
              <a:defRPr sz="1800" b="1">
                <a:solidFill>
                  <a:srgbClr val="000000"/>
                </a:solidFill>
              </a:defRPr>
            </a:lvl1pPr>
            <a:lvl2pPr algn="l">
              <a:defRPr sz="1800" b="1">
                <a:solidFill>
                  <a:srgbClr val="000000"/>
                </a:solidFill>
              </a:defRPr>
            </a:lvl2pPr>
            <a:lvl3pPr algn="l">
              <a:defRPr sz="1800" b="1">
                <a:solidFill>
                  <a:srgbClr val="000000"/>
                </a:solidFill>
              </a:defRPr>
            </a:lvl3pPr>
            <a:lvl4pPr algn="l">
              <a:defRPr sz="1800" b="1">
                <a:solidFill>
                  <a:srgbClr val="000000"/>
                </a:solidFill>
              </a:defRPr>
            </a:lvl4pPr>
            <a:lvl5pPr algn="l">
              <a:defRPr sz="1800" b="1">
                <a:solidFill>
                  <a:srgbClr val="000000"/>
                </a:solidFill>
              </a:defRPr>
            </a:lvl5pPr>
            <a:lvl6pPr algn="l">
              <a:defRPr sz="1800" b="1">
                <a:solidFill>
                  <a:srgbClr val="000000"/>
                </a:solidFill>
              </a:defRPr>
            </a:lvl6pPr>
            <a:lvl7pPr algn="l">
              <a:defRPr sz="1800" b="1">
                <a:solidFill>
                  <a:srgbClr val="000000"/>
                </a:solidFill>
              </a:defRPr>
            </a:lvl7pPr>
            <a:lvl8pPr algn="l">
              <a:defRPr sz="1800" b="1">
                <a:solidFill>
                  <a:srgbClr val="000000"/>
                </a:solidFill>
              </a:defRPr>
            </a:lvl8pPr>
            <a:lvl9pPr algn="l">
              <a:defRPr sz="1800" b="1">
                <a:solidFill>
                  <a:srgbClr val="000000"/>
                </a:solidFill>
              </a:defRPr>
            </a:lvl9pPr>
          </a:lstStyle>
          <a:p>
            <a:pPr algn="l">
              <a:defRPr sz="1800" b="1">
                <a:solidFill>
                  <a:srgbClr val="000000"/>
                </a:solidFill>
              </a:defRPr>
            </a:pPr>
            <a:r>
              <a:rPr sz="1800" b="1">
                <a:solidFill>
                  <a:srgbClr val="000000"/>
                </a:solidFill>
              </a:rPr>
              <a:t>Mock-up and user manual</a:t>
            </a:r>
          </a:p>
        </p:txBody>
      </p:sp>
      <p:sp>
        <p:nvSpPr>
          <p:cNvPr id="2" name="Slide body">
            <a:extLst>
              <a:ext uri="{FF2B5EF4-FFF2-40B4-BE49-F238E27FC236}">
                <a16:creationId xmlns:a16="http://schemas.microsoft.com/office/drawing/2014/main" id="{2EA17711-A3AD-499D-81AD-FDB36C123F08}"/>
              </a:ext>
            </a:extLst>
          </p:cNvPr>
          <p:cNvSpPr>
            <a:spLocks noGrp="1"/>
          </p:cNvSpPr>
          <p:nvPr/>
        </p:nvSpPr>
        <p:spPr>
          <a:xfrm>
            <a:off x="557784" y="877824"/>
            <a:ext cx="10572750" cy="4953000"/>
          </a:xfrm>
          <a:prstGeom prst="rect">
            <a:avLst/>
          </a:prstGeom>
          <a:noFill/>
          <a:ln w="0">
            <a:noFill/>
          </a:ln>
        </p:spPr>
        <p:txBody>
          <a:bodyPr/>
          <a:lstStyle>
            <a:defPPr algn="l">
              <a:defRPr sz="1800" b="0">
                <a:solidFill>
                  <a:srgbClr val="000000"/>
                </a:solidFill>
              </a:defRPr>
            </a:defPPr>
            <a:lvl1pPr algn="l">
              <a:defRPr sz="1800" b="0">
                <a:solidFill>
                  <a:srgbClr val="000000"/>
                </a:solidFill>
              </a:defRPr>
            </a:lvl1pPr>
            <a:lvl2pPr algn="l">
              <a:defRPr sz="1800" b="0">
                <a:solidFill>
                  <a:srgbClr val="000000"/>
                </a:solidFill>
              </a:defRPr>
            </a:lvl2pPr>
            <a:lvl3pPr algn="l">
              <a:defRPr sz="1800" b="0">
                <a:solidFill>
                  <a:srgbClr val="000000"/>
                </a:solidFill>
              </a:defRPr>
            </a:lvl3pPr>
            <a:lvl4pPr algn="l">
              <a:defRPr sz="1800" b="0">
                <a:solidFill>
                  <a:srgbClr val="000000"/>
                </a:solidFill>
              </a:defRPr>
            </a:lvl4pPr>
            <a:lvl5pPr algn="l">
              <a:defRPr sz="1800" b="0">
                <a:solidFill>
                  <a:srgbClr val="000000"/>
                </a:solidFill>
              </a:defRPr>
            </a:lvl5pPr>
            <a:lvl6pPr algn="l">
              <a:defRPr sz="1800" b="0">
                <a:solidFill>
                  <a:srgbClr val="000000"/>
                </a:solidFill>
              </a:defRPr>
            </a:lvl6pPr>
            <a:lvl7pPr algn="l">
              <a:defRPr sz="1800" b="0">
                <a:solidFill>
                  <a:srgbClr val="000000"/>
                </a:solidFill>
              </a:defRPr>
            </a:lvl7pPr>
            <a:lvl8pPr algn="l">
              <a:defRPr sz="1800" b="0">
                <a:solidFill>
                  <a:srgbClr val="000000"/>
                </a:solidFill>
              </a:defRPr>
            </a:lvl8pPr>
            <a:lvl9pPr algn="l">
              <a:defRPr sz="1800" b="0">
                <a:solidFill>
                  <a:srgbClr val="000000"/>
                </a:solidFill>
              </a:defRPr>
            </a:lvl9pPr>
          </a:lstStyle>
          <a:p>
            <a:pPr algn="l">
              <a:defRPr sz="1800" b="0">
                <a:solidFill>
                  <a:srgbClr val="000000"/>
                </a:solidFill>
              </a:defRPr>
            </a:pPr>
            <a:r>
              <a:rPr sz="1800" b="0">
                <a:solidFill>
                  <a:srgbClr val="000000"/>
                </a:solidFill>
              </a:rPr>
              <a:t>David Acosta Leon</a:t>
            </a:r>
          </a:p>
          <a:p>
            <a:endParaRPr sz="1800" b="0">
              <a:solidFill>
                <a:srgbClr val="000000"/>
              </a:solidFill>
            </a:endParaRPr>
          </a:p>
          <a:p>
            <a:pPr algn="l">
              <a:defRPr sz="1800" b="0">
                <a:solidFill>
                  <a:srgbClr val="000000"/>
                </a:solidFill>
              </a:defRPr>
            </a:pPr>
            <a:r>
              <a:rPr sz="1800" b="0">
                <a:solidFill>
                  <a:srgbClr val="000000"/>
                </a:solidFill>
              </a:rPr>
              <a:t>The manual follows the same four examples as Jay's slides.</a:t>
            </a:r>
          </a:p>
          <a:p>
            <a:endParaRPr sz="1800" b="0">
              <a:solidFill>
                <a:srgbClr val="000000"/>
              </a:solidFill>
            </a:endParaRPr>
          </a:p>
          <a:p>
            <a:pPr algn="l">
              <a:defRPr sz="1800" b="0">
                <a:solidFill>
                  <a:srgbClr val="000000"/>
                </a:solidFill>
              </a:defRPr>
            </a:pPr>
            <a:r>
              <a:rPr sz="1800" b="0">
                <a:solidFill>
                  <a:srgbClr val="000000"/>
                </a:solidFill>
              </a:rPr>
              <a:t>Each example shows the prompt, the user's choice and what happens next.</a:t>
            </a:r>
          </a:p>
          <a:p>
            <a:endParaRPr sz="1800" b="0">
              <a:solidFill>
                <a:srgbClr val="000000"/>
              </a:solidFill>
            </a:endParaRPr>
          </a:p>
          <a:p>
            <a:pPr algn="l">
              <a:defRPr sz="1800" b="0">
                <a:solidFill>
                  <a:srgbClr val="000000"/>
                </a:solidFill>
              </a:defRPr>
            </a:pPr>
            <a:r>
              <a:rPr sz="1800" b="0">
                <a:solidFill>
                  <a:srgbClr val="000000"/>
                </a:solidFill>
              </a:rPr>
              <a:t>Stevie confirms where he starts and which classroom he needs.</a:t>
            </a:r>
          </a:p>
          <a:p>
            <a:endParaRPr sz="1800" b="0">
              <a:solidFill>
                <a:srgbClr val="000000"/>
              </a:solidFill>
            </a:endParaRPr>
          </a:p>
          <a:p>
            <a:pPr algn="l">
              <a:defRPr sz="1800" b="0">
                <a:solidFill>
                  <a:srgbClr val="000000"/>
                </a:solidFill>
              </a:defRPr>
            </a:pPr>
            <a:r>
              <a:rPr sz="1800" b="0">
                <a:solidFill>
                  <a:srgbClr val="000000"/>
                </a:solidFill>
              </a:rPr>
              <a:t>The help example shows confirmation, waiting for an answer, a connection and a failed request.</a:t>
            </a:r>
          </a:p>
          <a:p>
            <a:endParaRPr sz="1800" b="0">
              <a:solidFill>
                <a:srgbClr val="000000"/>
              </a:solidFill>
            </a:endParaRPr>
          </a:p>
          <a:p>
            <a:pPr algn="l">
              <a:defRPr sz="1800" b="0">
                <a:solidFill>
                  <a:srgbClr val="000000"/>
                </a:solidFill>
              </a:defRPr>
            </a:pPr>
            <a:r>
              <a:rPr sz="1800" b="0">
                <a:solidFill>
                  <a:srgbClr val="000000"/>
                </a:solidFill>
              </a:rPr>
              <a:t>For settings, the user checks a preview before saving.</a:t>
            </a:r>
          </a:p>
        </p:txBody>
      </p:sp>
    </p:spTree>
    <p:extLst>
      <p:ext uri="{BB962C8B-B14F-4D97-AF65-F5344CB8AC3E}">
        <p14:creationId xmlns:p14="http://schemas.microsoft.com/office/powerpoint/2010/main" val="1944011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lide title">
            <a:extLst>
              <a:ext uri="{FF2B5EF4-FFF2-40B4-BE49-F238E27FC236}">
                <a16:creationId xmlns:a16="http://schemas.microsoft.com/office/drawing/2014/main" id="{5B1EF16F-A453-44B2-8717-6B5D6F05A7FC}"/>
              </a:ext>
            </a:extLst>
          </p:cNvPr>
          <p:cNvSpPr>
            <a:spLocks noGrp="1"/>
          </p:cNvSpPr>
          <p:nvPr/>
        </p:nvSpPr>
        <p:spPr>
          <a:xfrm>
            <a:off x="528066" y="321945"/>
            <a:ext cx="10818209" cy="365760"/>
          </a:xfrm>
          <a:prstGeom prst="rect">
            <a:avLst/>
          </a:prstGeom>
          <a:noFill/>
          <a:ln w="0">
            <a:noFill/>
          </a:ln>
        </p:spPr>
        <p:txBody>
          <a:bodyPr/>
          <a:lstStyle>
            <a:defPPr algn="l">
              <a:defRPr sz="1800" b="1">
                <a:solidFill>
                  <a:srgbClr val="000000"/>
                </a:solidFill>
              </a:defRPr>
            </a:defPPr>
            <a:lvl1pPr algn="l">
              <a:defRPr sz="1800" b="1">
                <a:solidFill>
                  <a:srgbClr val="000000"/>
                </a:solidFill>
              </a:defRPr>
            </a:lvl1pPr>
            <a:lvl2pPr algn="l">
              <a:defRPr sz="1800" b="1">
                <a:solidFill>
                  <a:srgbClr val="000000"/>
                </a:solidFill>
              </a:defRPr>
            </a:lvl2pPr>
            <a:lvl3pPr algn="l">
              <a:defRPr sz="1800" b="1">
                <a:solidFill>
                  <a:srgbClr val="000000"/>
                </a:solidFill>
              </a:defRPr>
            </a:lvl3pPr>
            <a:lvl4pPr algn="l">
              <a:defRPr sz="1800" b="1">
                <a:solidFill>
                  <a:srgbClr val="000000"/>
                </a:solidFill>
              </a:defRPr>
            </a:lvl4pPr>
            <a:lvl5pPr algn="l">
              <a:defRPr sz="1800" b="1">
                <a:solidFill>
                  <a:srgbClr val="000000"/>
                </a:solidFill>
              </a:defRPr>
            </a:lvl5pPr>
            <a:lvl6pPr algn="l">
              <a:defRPr sz="1800" b="1">
                <a:solidFill>
                  <a:srgbClr val="000000"/>
                </a:solidFill>
              </a:defRPr>
            </a:lvl6pPr>
            <a:lvl7pPr algn="l">
              <a:defRPr sz="1800" b="1">
                <a:solidFill>
                  <a:srgbClr val="000000"/>
                </a:solidFill>
              </a:defRPr>
            </a:lvl7pPr>
            <a:lvl8pPr algn="l">
              <a:defRPr sz="1800" b="1">
                <a:solidFill>
                  <a:srgbClr val="000000"/>
                </a:solidFill>
              </a:defRPr>
            </a:lvl8pPr>
            <a:lvl9pPr algn="l">
              <a:defRPr sz="1800" b="1">
                <a:solidFill>
                  <a:srgbClr val="000000"/>
                </a:solidFill>
              </a:defRPr>
            </a:lvl9pPr>
          </a:lstStyle>
          <a:p>
            <a:pPr algn="l">
              <a:defRPr sz="1800" b="1">
                <a:solidFill>
                  <a:srgbClr val="000000"/>
                </a:solidFill>
              </a:defRPr>
            </a:pPr>
            <a:r>
              <a:rPr sz="1800" b="1" dirty="0">
                <a:solidFill>
                  <a:srgbClr val="000000"/>
                </a:solidFill>
              </a:rPr>
              <a:t>Demonstration scope</a:t>
            </a:r>
          </a:p>
        </p:txBody>
      </p:sp>
      <p:sp>
        <p:nvSpPr>
          <p:cNvPr id="2" name="Slide body">
            <a:extLst>
              <a:ext uri="{FF2B5EF4-FFF2-40B4-BE49-F238E27FC236}">
                <a16:creationId xmlns:a16="http://schemas.microsoft.com/office/drawing/2014/main" id="{7439EBEA-42FC-49D6-BF6A-E7E5C43073C7}"/>
              </a:ext>
            </a:extLst>
          </p:cNvPr>
          <p:cNvSpPr>
            <a:spLocks noGrp="1"/>
          </p:cNvSpPr>
          <p:nvPr/>
        </p:nvSpPr>
        <p:spPr>
          <a:xfrm>
            <a:off x="557784" y="877824"/>
            <a:ext cx="10572750" cy="4953000"/>
          </a:xfrm>
          <a:prstGeom prst="rect">
            <a:avLst/>
          </a:prstGeom>
          <a:noFill/>
          <a:ln w="0">
            <a:noFill/>
          </a:ln>
        </p:spPr>
        <p:txBody>
          <a:bodyPr/>
          <a:lstStyle>
            <a:defPPr algn="l">
              <a:defRPr sz="1800" b="0">
                <a:solidFill>
                  <a:srgbClr val="000000"/>
                </a:solidFill>
              </a:defRPr>
            </a:defPPr>
            <a:lvl1pPr algn="l">
              <a:defRPr sz="1800" b="0">
                <a:solidFill>
                  <a:srgbClr val="000000"/>
                </a:solidFill>
              </a:defRPr>
            </a:lvl1pPr>
            <a:lvl2pPr algn="l">
              <a:defRPr sz="1800" b="0">
                <a:solidFill>
                  <a:srgbClr val="000000"/>
                </a:solidFill>
              </a:defRPr>
            </a:lvl2pPr>
            <a:lvl3pPr algn="l">
              <a:defRPr sz="1800" b="0">
                <a:solidFill>
                  <a:srgbClr val="000000"/>
                </a:solidFill>
              </a:defRPr>
            </a:lvl3pPr>
            <a:lvl4pPr algn="l">
              <a:defRPr sz="1800" b="0">
                <a:solidFill>
                  <a:srgbClr val="000000"/>
                </a:solidFill>
              </a:defRPr>
            </a:lvl4pPr>
            <a:lvl5pPr algn="l">
              <a:defRPr sz="1800" b="0">
                <a:solidFill>
                  <a:srgbClr val="000000"/>
                </a:solidFill>
              </a:defRPr>
            </a:lvl5pPr>
            <a:lvl6pPr algn="l">
              <a:defRPr sz="1800" b="0">
                <a:solidFill>
                  <a:srgbClr val="000000"/>
                </a:solidFill>
              </a:defRPr>
            </a:lvl6pPr>
            <a:lvl7pPr algn="l">
              <a:defRPr sz="1800" b="0">
                <a:solidFill>
                  <a:srgbClr val="000000"/>
                </a:solidFill>
              </a:defRPr>
            </a:lvl7pPr>
            <a:lvl8pPr algn="l">
              <a:defRPr sz="1800" b="0">
                <a:solidFill>
                  <a:srgbClr val="000000"/>
                </a:solidFill>
              </a:defRPr>
            </a:lvl8pPr>
            <a:lvl9pPr algn="l">
              <a:defRPr sz="1800" b="0">
                <a:solidFill>
                  <a:srgbClr val="000000"/>
                </a:solidFill>
              </a:defRPr>
            </a:lvl9pPr>
          </a:lstStyle>
          <a:p>
            <a:pPr algn="l">
              <a:defRPr sz="1800" b="0">
                <a:solidFill>
                  <a:srgbClr val="000000"/>
                </a:solidFill>
              </a:defRPr>
            </a:pPr>
            <a:r>
              <a:rPr sz="1800" b="0" dirty="0">
                <a:solidFill>
                  <a:srgbClr val="000000"/>
                </a:solidFill>
              </a:rPr>
              <a:t>The mock-up shows example steps and results as text.</a:t>
            </a:r>
          </a:p>
          <a:p>
            <a:endParaRPr sz="1800" b="0" dirty="0">
              <a:solidFill>
                <a:srgbClr val="000000"/>
              </a:solidFill>
            </a:endParaRPr>
          </a:p>
          <a:p>
            <a:pPr algn="l">
              <a:defRPr sz="1800" b="0">
                <a:solidFill>
                  <a:srgbClr val="000000"/>
                </a:solidFill>
              </a:defRPr>
            </a:pPr>
            <a:r>
              <a:rPr sz="1800" b="0" dirty="0">
                <a:solidFill>
                  <a:srgbClr val="000000"/>
                </a:solidFill>
              </a:rPr>
              <a:t>Locations, routes, blockages and contacts are examples.</a:t>
            </a:r>
          </a:p>
          <a:p>
            <a:endParaRPr sz="1800" b="0" dirty="0">
              <a:solidFill>
                <a:srgbClr val="000000"/>
              </a:solidFill>
            </a:endParaRPr>
          </a:p>
          <a:p>
            <a:pPr algn="l">
              <a:defRPr sz="1800" b="0">
                <a:solidFill>
                  <a:srgbClr val="000000"/>
                </a:solidFill>
              </a:defRPr>
            </a:pPr>
            <a:r>
              <a:rPr sz="1800" b="0" dirty="0">
                <a:solidFill>
                  <a:srgbClr val="000000"/>
                </a:solidFill>
              </a:rPr>
              <a:t>It does not track location, detect obstacles or contact anyone.</a:t>
            </a:r>
          </a:p>
          <a:p>
            <a:endParaRPr sz="1800" b="0" dirty="0">
              <a:solidFill>
                <a:srgbClr val="000000"/>
              </a:solidFill>
            </a:endParaRPr>
          </a:p>
          <a:p>
            <a:pPr algn="l">
              <a:defRPr sz="1800" b="0">
                <a:solidFill>
                  <a:srgbClr val="000000"/>
                </a:solidFill>
              </a:defRPr>
            </a:pPr>
            <a:r>
              <a:rPr sz="1800" b="0" dirty="0">
                <a:solidFill>
                  <a:srgbClr val="000000"/>
                </a:solidFill>
              </a:rPr>
              <a:t>Audio and vibration are not implemented.</a:t>
            </a:r>
          </a:p>
          <a:p>
            <a:endParaRPr sz="1800" b="0" dirty="0">
              <a:solidFill>
                <a:srgbClr val="000000"/>
              </a:solidFill>
            </a:endParaRPr>
          </a:p>
          <a:p>
            <a:pPr algn="l">
              <a:defRPr sz="1800" b="0">
                <a:solidFill>
                  <a:srgbClr val="000000"/>
                </a:solidFill>
              </a:defRPr>
            </a:pPr>
            <a:r>
              <a:rPr sz="1800" b="0" dirty="0">
                <a:solidFill>
                  <a:srgbClr val="000000"/>
                </a:solidFill>
              </a:rPr>
              <a:t>The team still needs to check the examples against the final WRS.</a:t>
            </a:r>
          </a:p>
          <a:p>
            <a:endParaRPr sz="1800" b="0" dirty="0">
              <a:solidFill>
                <a:srgbClr val="000000"/>
              </a:solidFill>
            </a:endParaRPr>
          </a:p>
          <a:p>
            <a:pPr algn="l">
              <a:defRPr sz="1800" b="0">
                <a:solidFill>
                  <a:srgbClr val="000000"/>
                </a:solidFill>
              </a:defRPr>
            </a:pPr>
            <a:r>
              <a:rPr sz="1800" b="0" dirty="0">
                <a:solidFill>
                  <a:srgbClr val="000000"/>
                </a:solidFill>
              </a:rPr>
              <a:t>Real navigation and usability with BVI users have not been tested in this work.</a:t>
            </a:r>
          </a:p>
        </p:txBody>
      </p:sp>
    </p:spTree>
    <p:extLst>
      <p:ext uri="{BB962C8B-B14F-4D97-AF65-F5344CB8AC3E}">
        <p14:creationId xmlns:p14="http://schemas.microsoft.com/office/powerpoint/2010/main" val="1475473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body">
            <a:extLst>
              <a:ext uri="{FF2B5EF4-FFF2-40B4-BE49-F238E27FC236}">
                <a16:creationId xmlns:a16="http://schemas.microsoft.com/office/drawing/2014/main" id="{D6E1822F-AE13-9E22-B57E-F84B766CD1C1}"/>
              </a:ext>
            </a:extLst>
          </p:cNvPr>
          <p:cNvSpPr>
            <a:spLocks noGrp="1"/>
          </p:cNvSpPr>
          <p:nvPr/>
        </p:nvSpPr>
        <p:spPr>
          <a:xfrm>
            <a:off x="557784" y="877824"/>
            <a:ext cx="10572750" cy="4953000"/>
          </a:xfrm>
          <a:prstGeom prst="rect">
            <a:avLst/>
          </a:prstGeom>
          <a:noFill/>
          <a:ln w="0">
            <a:noFill/>
          </a:ln>
        </p:spPr>
        <p:txBody>
          <a:bodyPr/>
          <a:lstStyle>
            <a:defPPr algn="l">
              <a:defRPr sz="1800" b="0">
                <a:solidFill>
                  <a:srgbClr val="000000"/>
                </a:solidFill>
              </a:defRPr>
            </a:defPPr>
            <a:lvl1pPr algn="l">
              <a:defRPr sz="1800" b="0">
                <a:solidFill>
                  <a:srgbClr val="000000"/>
                </a:solidFill>
              </a:defRPr>
            </a:lvl1pPr>
            <a:lvl2pPr algn="l">
              <a:defRPr sz="1800" b="0">
                <a:solidFill>
                  <a:srgbClr val="000000"/>
                </a:solidFill>
              </a:defRPr>
            </a:lvl2pPr>
            <a:lvl3pPr algn="l">
              <a:defRPr sz="1800" b="0">
                <a:solidFill>
                  <a:srgbClr val="000000"/>
                </a:solidFill>
              </a:defRPr>
            </a:lvl3pPr>
            <a:lvl4pPr algn="l">
              <a:defRPr sz="1800" b="0">
                <a:solidFill>
                  <a:srgbClr val="000000"/>
                </a:solidFill>
              </a:defRPr>
            </a:lvl4pPr>
            <a:lvl5pPr algn="l">
              <a:defRPr sz="1800" b="0">
                <a:solidFill>
                  <a:srgbClr val="000000"/>
                </a:solidFill>
              </a:defRPr>
            </a:lvl5pPr>
            <a:lvl6pPr algn="l">
              <a:defRPr sz="1800" b="0">
                <a:solidFill>
                  <a:srgbClr val="000000"/>
                </a:solidFill>
              </a:defRPr>
            </a:lvl6pPr>
            <a:lvl7pPr algn="l">
              <a:defRPr sz="1800" b="0">
                <a:solidFill>
                  <a:srgbClr val="000000"/>
                </a:solidFill>
              </a:defRPr>
            </a:lvl7pPr>
            <a:lvl8pPr algn="l">
              <a:defRPr sz="1800" b="0">
                <a:solidFill>
                  <a:srgbClr val="000000"/>
                </a:solidFill>
              </a:defRPr>
            </a:lvl8pPr>
            <a:lvl9pPr algn="l">
              <a:defRPr sz="1800" b="0">
                <a:solidFill>
                  <a:srgbClr val="000000"/>
                </a:solidFill>
              </a:defRPr>
            </a:lvl9pPr>
          </a:lstStyle>
          <a:p>
            <a:pPr>
              <a:defRPr sz="1800" b="0">
                <a:solidFill>
                  <a:srgbClr val="000000"/>
                </a:solidFill>
              </a:defRPr>
            </a:pPr>
            <a:r>
              <a:rPr lang="en-US" dirty="0"/>
              <a:t>In the classroom example, Stevie gives his starting point and classroom, then confirms both. He starts the route and gets the example instruction to walk ten steps and turn left. Those steps come from the class example; they are not a distance we measured. He can repeat an instruction or stop guidance. The other outcomes show what happens if the room is unclear, he misses a turn, his location is lost or no usable route is available. </a:t>
            </a:r>
          </a:p>
          <a:p>
            <a:pPr>
              <a:defRPr sz="1800" b="0">
                <a:solidFill>
                  <a:srgbClr val="000000"/>
                </a:solidFill>
              </a:defRPr>
            </a:pPr>
            <a:endParaRPr lang="en-US" dirty="0"/>
          </a:p>
          <a:p>
            <a:pPr>
              <a:defRPr sz="1800" b="0">
                <a:solidFill>
                  <a:srgbClr val="000000"/>
                </a:solidFill>
              </a:defRPr>
            </a:pPr>
            <a:r>
              <a:rPr lang="en-US" dirty="0"/>
              <a:t>For the blocked hallway, the demo already has the blockage information. The user hears an alternative before accepting it. If there is no usable alternative, or they decline it, guidance stays paused. </a:t>
            </a:r>
          </a:p>
          <a:p>
            <a:pPr>
              <a:defRPr sz="1800" b="0">
                <a:solidFill>
                  <a:srgbClr val="000000"/>
                </a:solidFill>
              </a:defRPr>
            </a:pPr>
            <a:endParaRPr lang="en-US" dirty="0"/>
          </a:p>
          <a:p>
            <a:pPr>
              <a:defRPr sz="1800" b="0">
                <a:solidFill>
                  <a:srgbClr val="000000"/>
                </a:solidFill>
              </a:defRPr>
            </a:pPr>
            <a:r>
              <a:rPr lang="en-US" dirty="0"/>
              <a:t>For the lost visitor, connecting and connected are separate. Starting a request does not mean the contact answered or knows where the visitor is. Cancelling before confirmation sends no request. After the request starts, the contact may already have received it, even if the user ends the attempt. </a:t>
            </a:r>
          </a:p>
          <a:p>
            <a:pPr>
              <a:defRPr sz="1800" b="0">
                <a:solidFill>
                  <a:srgbClr val="000000"/>
                </a:solidFill>
              </a:defRPr>
            </a:pPr>
            <a:endParaRPr lang="en-US" dirty="0"/>
          </a:p>
          <a:p>
            <a:pPr>
              <a:defRPr sz="1800" b="0">
                <a:solidFill>
                  <a:srgbClr val="000000"/>
                </a:solidFill>
              </a:defRPr>
            </a:pPr>
            <a:r>
              <a:rPr lang="en-US" dirty="0"/>
              <a:t>The settings example reads the current values, lets the user preview changes and saves only after they agree. A caretaker can help, but the user stays in control. Fewer repeats still includes essential directions and warnings.</a:t>
            </a:r>
            <a:endParaRPr sz="1800" b="0" dirty="0">
              <a:solidFill>
                <a:srgbClr val="000000"/>
              </a:solidFill>
            </a:endParaRPr>
          </a:p>
        </p:txBody>
      </p:sp>
      <p:sp>
        <p:nvSpPr>
          <p:cNvPr id="6" name="Slide title">
            <a:extLst>
              <a:ext uri="{FF2B5EF4-FFF2-40B4-BE49-F238E27FC236}">
                <a16:creationId xmlns:a16="http://schemas.microsoft.com/office/drawing/2014/main" id="{8044446D-C8CD-668D-5584-51F077F7866B}"/>
              </a:ext>
            </a:extLst>
          </p:cNvPr>
          <p:cNvSpPr>
            <a:spLocks noGrp="1"/>
          </p:cNvSpPr>
          <p:nvPr/>
        </p:nvSpPr>
        <p:spPr>
          <a:xfrm>
            <a:off x="528066" y="321945"/>
            <a:ext cx="10818209" cy="365760"/>
          </a:xfrm>
          <a:prstGeom prst="rect">
            <a:avLst/>
          </a:prstGeom>
          <a:noFill/>
          <a:ln w="0">
            <a:noFill/>
          </a:ln>
        </p:spPr>
        <p:txBody>
          <a:bodyPr/>
          <a:lstStyle>
            <a:defPPr algn="l">
              <a:defRPr sz="1800" b="1">
                <a:solidFill>
                  <a:srgbClr val="000000"/>
                </a:solidFill>
              </a:defRPr>
            </a:defPPr>
            <a:lvl1pPr algn="l">
              <a:defRPr sz="1800" b="1">
                <a:solidFill>
                  <a:srgbClr val="000000"/>
                </a:solidFill>
              </a:defRPr>
            </a:lvl1pPr>
            <a:lvl2pPr algn="l">
              <a:defRPr sz="1800" b="1">
                <a:solidFill>
                  <a:srgbClr val="000000"/>
                </a:solidFill>
              </a:defRPr>
            </a:lvl2pPr>
            <a:lvl3pPr algn="l">
              <a:defRPr sz="1800" b="1">
                <a:solidFill>
                  <a:srgbClr val="000000"/>
                </a:solidFill>
              </a:defRPr>
            </a:lvl3pPr>
            <a:lvl4pPr algn="l">
              <a:defRPr sz="1800" b="1">
                <a:solidFill>
                  <a:srgbClr val="000000"/>
                </a:solidFill>
              </a:defRPr>
            </a:lvl4pPr>
            <a:lvl5pPr algn="l">
              <a:defRPr sz="1800" b="1">
                <a:solidFill>
                  <a:srgbClr val="000000"/>
                </a:solidFill>
              </a:defRPr>
            </a:lvl5pPr>
            <a:lvl6pPr algn="l">
              <a:defRPr sz="1800" b="1">
                <a:solidFill>
                  <a:srgbClr val="000000"/>
                </a:solidFill>
              </a:defRPr>
            </a:lvl6pPr>
            <a:lvl7pPr algn="l">
              <a:defRPr sz="1800" b="1">
                <a:solidFill>
                  <a:srgbClr val="000000"/>
                </a:solidFill>
              </a:defRPr>
            </a:lvl7pPr>
            <a:lvl8pPr algn="l">
              <a:defRPr sz="1800" b="1">
                <a:solidFill>
                  <a:srgbClr val="000000"/>
                </a:solidFill>
              </a:defRPr>
            </a:lvl8pPr>
            <a:lvl9pPr algn="l">
              <a:defRPr sz="1800" b="1">
                <a:solidFill>
                  <a:srgbClr val="000000"/>
                </a:solidFill>
              </a:defRPr>
            </a:lvl9pPr>
          </a:lstStyle>
          <a:p>
            <a:pPr algn="l">
              <a:defRPr sz="1800" b="1">
                <a:solidFill>
                  <a:srgbClr val="000000"/>
                </a:solidFill>
              </a:defRPr>
            </a:pPr>
            <a:r>
              <a:rPr lang="en-US" sz="1800" b="1" dirty="0">
                <a:solidFill>
                  <a:srgbClr val="000000"/>
                </a:solidFill>
              </a:rPr>
              <a:t>Demo (Text Mock up)</a:t>
            </a:r>
            <a:endParaRPr sz="1800" b="1" dirty="0">
              <a:solidFill>
                <a:srgbClr val="000000"/>
              </a:solidFill>
            </a:endParaRPr>
          </a:p>
        </p:txBody>
      </p:sp>
    </p:spTree>
    <p:extLst>
      <p:ext uri="{BB962C8B-B14F-4D97-AF65-F5344CB8AC3E}">
        <p14:creationId xmlns:p14="http://schemas.microsoft.com/office/powerpoint/2010/main" val="839634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B89E2D-FC4A-C821-4450-8EB540FF2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07" y="1343927"/>
            <a:ext cx="5334274" cy="4426177"/>
          </a:xfrm>
          <a:prstGeom prst="rect">
            <a:avLst/>
          </a:prstGeom>
        </p:spPr>
      </p:pic>
      <p:pic>
        <p:nvPicPr>
          <p:cNvPr id="7" name="Picture 6">
            <a:extLst>
              <a:ext uri="{FF2B5EF4-FFF2-40B4-BE49-F238E27FC236}">
                <a16:creationId xmlns:a16="http://schemas.microsoft.com/office/drawing/2014/main" id="{10F55CFD-C5BB-BDDE-FFAE-30E1AAD452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8378" y="1343927"/>
            <a:ext cx="4959605" cy="2159111"/>
          </a:xfrm>
          <a:prstGeom prst="rect">
            <a:avLst/>
          </a:prstGeom>
        </p:spPr>
      </p:pic>
      <p:pic>
        <p:nvPicPr>
          <p:cNvPr id="9" name="Picture 8">
            <a:extLst>
              <a:ext uri="{FF2B5EF4-FFF2-40B4-BE49-F238E27FC236}">
                <a16:creationId xmlns:a16="http://schemas.microsoft.com/office/drawing/2014/main" id="{99D29B85-F6A8-5BD7-7762-20C743566B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5349" y="3503038"/>
            <a:ext cx="5105662" cy="2419474"/>
          </a:xfrm>
          <a:prstGeom prst="rect">
            <a:avLst/>
          </a:prstGeom>
        </p:spPr>
      </p:pic>
      <p:sp>
        <p:nvSpPr>
          <p:cNvPr id="11" name="Slide title">
            <a:extLst>
              <a:ext uri="{FF2B5EF4-FFF2-40B4-BE49-F238E27FC236}">
                <a16:creationId xmlns:a16="http://schemas.microsoft.com/office/drawing/2014/main" id="{B2D148A8-B186-8300-BF7C-E0A3F48F286D}"/>
              </a:ext>
            </a:extLst>
          </p:cNvPr>
          <p:cNvSpPr>
            <a:spLocks noGrp="1"/>
          </p:cNvSpPr>
          <p:nvPr/>
        </p:nvSpPr>
        <p:spPr>
          <a:xfrm>
            <a:off x="528066" y="321945"/>
            <a:ext cx="10818209" cy="365760"/>
          </a:xfrm>
          <a:prstGeom prst="rect">
            <a:avLst/>
          </a:prstGeom>
          <a:noFill/>
          <a:ln w="0">
            <a:noFill/>
          </a:ln>
        </p:spPr>
        <p:txBody>
          <a:bodyPr/>
          <a:lstStyle>
            <a:defPPr algn="l">
              <a:defRPr sz="1800" b="1">
                <a:solidFill>
                  <a:srgbClr val="000000"/>
                </a:solidFill>
              </a:defRPr>
            </a:defPPr>
            <a:lvl1pPr algn="l">
              <a:defRPr sz="1800" b="1">
                <a:solidFill>
                  <a:srgbClr val="000000"/>
                </a:solidFill>
              </a:defRPr>
            </a:lvl1pPr>
            <a:lvl2pPr algn="l">
              <a:defRPr sz="1800" b="1">
                <a:solidFill>
                  <a:srgbClr val="000000"/>
                </a:solidFill>
              </a:defRPr>
            </a:lvl2pPr>
            <a:lvl3pPr algn="l">
              <a:defRPr sz="1800" b="1">
                <a:solidFill>
                  <a:srgbClr val="000000"/>
                </a:solidFill>
              </a:defRPr>
            </a:lvl3pPr>
            <a:lvl4pPr algn="l">
              <a:defRPr sz="1800" b="1">
                <a:solidFill>
                  <a:srgbClr val="000000"/>
                </a:solidFill>
              </a:defRPr>
            </a:lvl4pPr>
            <a:lvl5pPr algn="l">
              <a:defRPr sz="1800" b="1">
                <a:solidFill>
                  <a:srgbClr val="000000"/>
                </a:solidFill>
              </a:defRPr>
            </a:lvl5pPr>
            <a:lvl6pPr algn="l">
              <a:defRPr sz="1800" b="1">
                <a:solidFill>
                  <a:srgbClr val="000000"/>
                </a:solidFill>
              </a:defRPr>
            </a:lvl6pPr>
            <a:lvl7pPr algn="l">
              <a:defRPr sz="1800" b="1">
                <a:solidFill>
                  <a:srgbClr val="000000"/>
                </a:solidFill>
              </a:defRPr>
            </a:lvl7pPr>
            <a:lvl8pPr algn="l">
              <a:defRPr sz="1800" b="1">
                <a:solidFill>
                  <a:srgbClr val="000000"/>
                </a:solidFill>
              </a:defRPr>
            </a:lvl8pPr>
            <a:lvl9pPr algn="l">
              <a:defRPr sz="1800" b="1">
                <a:solidFill>
                  <a:srgbClr val="000000"/>
                </a:solidFill>
              </a:defRPr>
            </a:lvl9pPr>
          </a:lstStyle>
          <a:p>
            <a:pPr algn="l">
              <a:defRPr sz="1800" b="1">
                <a:solidFill>
                  <a:srgbClr val="000000"/>
                </a:solidFill>
              </a:defRPr>
            </a:pPr>
            <a:r>
              <a:rPr lang="en-US" sz="1800" b="1" dirty="0">
                <a:solidFill>
                  <a:srgbClr val="000000"/>
                </a:solidFill>
              </a:rPr>
              <a:t>User Manual</a:t>
            </a:r>
            <a:endParaRPr sz="1800" b="1" dirty="0">
              <a:solidFill>
                <a:srgbClr val="000000"/>
              </a:solidFill>
            </a:endParaRPr>
          </a:p>
        </p:txBody>
      </p:sp>
    </p:spTree>
    <p:extLst>
      <p:ext uri="{BB962C8B-B14F-4D97-AF65-F5344CB8AC3E}">
        <p14:creationId xmlns:p14="http://schemas.microsoft.com/office/powerpoint/2010/main" val="577727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2412</Words>
  <Application>Microsoft Office PowerPoint</Application>
  <DocSecurity>0</DocSecurity>
  <PresentationFormat>Widescreen</PresentationFormat>
  <Paragraphs>172</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THEIA Phase I scenarios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Takushi, Travis</cp:lastModifiedBy>
  <cp:revision>1</cp:revision>
  <dcterms:created xsi:type="dcterms:W3CDTF">2026-10-18T02:09:13Z</dcterms:created>
  <dcterms:modified xsi:type="dcterms:W3CDTF">2026-10-21T06:21:28Z</dcterms:modified>
</cp:coreProperties>
</file>